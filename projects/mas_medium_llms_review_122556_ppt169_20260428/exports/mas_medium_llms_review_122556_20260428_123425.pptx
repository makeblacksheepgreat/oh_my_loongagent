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先给出汇报主题：中小型大模型在多智能体系统中的作用与发展前景。核心观点是，中小型大模型不是要全面替代超大模型，而是在多角色协作系统中承担基础执行层。它们的关键词是低成本、可部署、可角色化和可治理。</a:t>
            </a:r>
          </a:p>
          <a:p>
            <a:endParaRPr lang="zh-CN" dirty="0"/>
          </a:p>
          <a:p>
            <a:r>
              <a:rPr lang="zh-CN" dirty="0"/>
              <a:t>要点：① 主题定位 ② 基础执行层 ③ 多智能体系统语境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概念之前，先说明为什么这个问题重要。大语言模型应用正在从单轮问答转向任务执行，多智能体系统进一步引入角色分工、工具调用和状态管理。这样一来，成本、延迟、权限和可靠性就成为关键约束，因此不可能所有角色都长期依赖最大模型。</a:t>
            </a:r>
          </a:p>
          <a:p>
            <a:endParaRPr lang="zh-CN" dirty="0"/>
          </a:p>
          <a:p>
            <a:r>
              <a:rPr lang="zh-CN" dirty="0"/>
              <a:t>要点：① 应用形态变化 ② 多智能体复杂度提升 ③ 需要分层使用模型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多智能体系统不是多个聊天框简单并列，而是一个复合系统。底层是不同角色，上面是模型、RAG、工具和记忆等能力，再往上是工作流和状态管理，最上层是权限、审计和安全治理。中小型大模型的价值要放在这个系统结构中理解。</a:t>
            </a:r>
          </a:p>
          <a:p>
            <a:endParaRPr lang="zh-CN" dirty="0"/>
          </a:p>
          <a:p>
            <a:r>
              <a:rPr lang="zh-CN" dirty="0"/>
              <a:t>要点：① 角色层 ② 能力层 ③ 编排层 ④ 治理层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这个结构，可以明确中小型大模型的定位。它们适合承担高频、明确、边界可控的执行节点，比如分类、摘要、检索改写、安全过滤和工具路由。复杂任务则交给更强模型或人工复核，这是一种互补关系，而不是替代关系。</a:t>
            </a:r>
          </a:p>
          <a:p>
            <a:endParaRPr lang="zh-CN" dirty="0"/>
          </a:p>
          <a:p>
            <a:r>
              <a:rPr lang="zh-CN" dirty="0"/>
              <a:t>要点：① 基础执行层 ② 高频节点 ③ 与大模型互补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具体来看，中小型大模型有四类主要作用。第一是降低成本和响应延迟；第二是支持角色专业化；第三是促进私有化、边缘化和端边云协同；第四是作为安全过滤和评审节点。每一类作用都要建立在任务边界清晰和流程可治理的前提上。</a:t>
            </a:r>
          </a:p>
          <a:p>
            <a:endParaRPr lang="zh-CN" dirty="0"/>
          </a:p>
          <a:p>
            <a:r>
              <a:rPr lang="zh-CN" dirty="0"/>
              <a:t>要点：① 成本时延 ② 角色分工 ③ 私有部署 ④ 安全治理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这些作用能够成立，是因为背后有一系列技术路线支撑。知识蒸馏可以迁移角色策略，量化和压缩降低部署门槛，LoRA 或 QLoRA 支持低成本领域适配，模型路由决定何时用小模型、何时升级到大模型，RAG 和工作流编排则补足知识和流程边界。</a:t>
            </a:r>
          </a:p>
          <a:p>
            <a:endParaRPr lang="zh-CN" dirty="0"/>
          </a:p>
          <a:p>
            <a:r>
              <a:rPr lang="zh-CN" dirty="0"/>
              <a:t>要点：① 蒸馏 ② 量化压缩 ③ 领域适配 ④ 模型路由 ⑤ RAG 与编排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应用层面，最适合中小型大模型的是高频、边界清晰、需要私有化或审计的任务。比如企业知识助手中的查询改写和检索摘要，软件工程中的文件摘要和测试说明，客服工单中的意图识别和异常升级。高风险领域则必须保留专家复核。</a:t>
            </a:r>
          </a:p>
          <a:p>
            <a:endParaRPr lang="zh-CN" dirty="0"/>
          </a:p>
          <a:p>
            <a:r>
              <a:rPr lang="zh-CN" dirty="0"/>
              <a:t>要点：① 企业知识 ② 软件工程 ③ 客服工单 ④ 边缘设备 ⑤ 垂直行业辅助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需要强调的是，多智能体并不天然更可靠。一个智能体的错误可能被其他智能体继续引用，形成级联幻觉；工具调用如果权限过大，也可能造成真实系统损害。因此必须用任务分级、日志回放、权限最小化、沙箱执行和端到端评估来治理。</a:t>
            </a:r>
          </a:p>
          <a:p>
            <a:endParaRPr lang="zh-CN" dirty="0"/>
          </a:p>
          <a:p>
            <a:r>
              <a:rPr lang="zh-CN" dirty="0"/>
              <a:t>要点：① 能力上限 ② 协作风险 ③ 工具权限 ④ 系统级评估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未来的发展方向可以概括为从模型大小竞争转向系统协同。大小模型会通过路由机制配合，角色专用中小模型会更多出现，端—边—云多智能体架构会扩展应用边界，多智能体轨迹蒸馏可能降低长期部署成本，安全治理也会从外部补丁变成内生机制。</a:t>
            </a:r>
          </a:p>
          <a:p>
            <a:endParaRPr lang="zh-CN" dirty="0"/>
          </a:p>
          <a:p>
            <a:r>
              <a:rPr lang="zh-CN" dirty="0"/>
              <a:t>要点：① 大小模型协同 ② 角色专用模型 ③ 端边云架构 ④ 轨迹蒸馏 ⑤ 安全内生化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总结全文。中小型大模型的价值不是取代超大模型，而是在多智能体系统中成为低成本、低延迟、可私有化、可角色化和可治理的基础执行层。真正成熟的系统，会在模型、工具、知识、流程和安全之间形成可验证、可维护、可持续的协同结构。</a:t>
            </a:r>
          </a:p>
          <a:p>
            <a:endParaRPr lang="zh-CN" dirty="0"/>
          </a:p>
          <a:p>
            <a:r>
              <a:rPr lang="zh-CN" dirty="0"/>
              <a:t>要点：① 不是替代品 ② 是基础执行层 ③ 未来取决于系统协同与治理成熟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8">
              <a:alpha val="4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286750" y="-476250"/>
            <a:ext cx="3619500" cy="3619500"/>
          </a:xfrm>
          <a:prstGeom prst="ellipse">
            <a:avLst/>
          </a:prstGeom>
          <a:solidFill>
            <a:srgbClr val="EAF2F8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285750"/>
            <a:ext cx="2286000" cy="2286000"/>
          </a:xfrm>
          <a:prstGeom prst="ellipse">
            <a:avLst/>
          </a:prstGeom>
          <a:solidFill>
            <a:srgbClr val="22C1C3">
              <a:alpha val="18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0" y="4381500"/>
            <a:ext cx="2857500" cy="2857500"/>
          </a:xfrm>
          <a:prstGeom prst="ellipse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581650" y="914400"/>
            <a:ext cx="1028700" cy="10287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65C0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5817394" y="1107281"/>
            <a:ext cx="557212" cy="578644"/>
            <a:chOff x="5817394" y="1107281"/>
            <a:chExt cx="557212" cy="578644"/>
          </a:xfrm>
        </p:grpSpPr>
        <p:sp>
          <p:nvSpPr>
            <p:cNvPr id="8" name="Freeform 8"/>
            <p:cNvSpPr/>
            <p:nvPr/>
          </p:nvSpPr>
          <p:spPr>
            <a:xfrm>
              <a:off x="5838825" y="1235869"/>
              <a:ext cx="514350" cy="428625"/>
            </a:xfrm>
            <a:custGeom>
              <a:avLst/>
              <a:gdLst/>
              <a:ahLst/>
              <a:cxnLst/>
              <a:rect l="l" t="t" r="r" b="b"/>
              <a:pathLst>
                <a:path w="514350" h="428625">
                  <a:moveTo>
                    <a:pt x="450056" y="0"/>
                  </a:moveTo>
                  <a:lnTo>
                    <a:pt x="64294" y="0"/>
                  </a:lnTo>
                  <a:cubicBezTo>
                    <a:pt x="28785" y="0"/>
                    <a:pt x="0" y="28785"/>
                    <a:pt x="0" y="64294"/>
                  </a:cubicBezTo>
                  <a:lnTo>
                    <a:pt x="0" y="364331"/>
                  </a:lnTo>
                  <a:cubicBezTo>
                    <a:pt x="0" y="399840"/>
                    <a:pt x="28785" y="428625"/>
                    <a:pt x="64294" y="428625"/>
                  </a:cubicBezTo>
                  <a:lnTo>
                    <a:pt x="450056" y="428625"/>
                  </a:lnTo>
                  <a:cubicBezTo>
                    <a:pt x="485565" y="428625"/>
                    <a:pt x="514350" y="399840"/>
                    <a:pt x="514350" y="364331"/>
                  </a:cubicBezTo>
                  <a:lnTo>
                    <a:pt x="514350" y="64294"/>
                  </a:lnTo>
                  <a:cubicBezTo>
                    <a:pt x="514350" y="28785"/>
                    <a:pt x="485565" y="0"/>
                    <a:pt x="450056" y="0"/>
                  </a:cubicBezTo>
                  <a:close/>
                  <a:moveTo>
                    <a:pt x="353616" y="342900"/>
                  </a:moveTo>
                  <a:lnTo>
                    <a:pt x="160734" y="342900"/>
                  </a:lnTo>
                  <a:cubicBezTo>
                    <a:pt x="131144" y="342900"/>
                    <a:pt x="107156" y="318912"/>
                    <a:pt x="107156" y="289322"/>
                  </a:cubicBezTo>
                  <a:cubicBezTo>
                    <a:pt x="107156" y="259731"/>
                    <a:pt x="131144" y="235744"/>
                    <a:pt x="160734" y="235744"/>
                  </a:cubicBezTo>
                  <a:lnTo>
                    <a:pt x="353616" y="235744"/>
                  </a:lnTo>
                  <a:cubicBezTo>
                    <a:pt x="383206" y="235744"/>
                    <a:pt x="407194" y="259731"/>
                    <a:pt x="407194" y="289322"/>
                  </a:cubicBezTo>
                  <a:cubicBezTo>
                    <a:pt x="407194" y="318912"/>
                    <a:pt x="383206" y="342900"/>
                    <a:pt x="353616" y="34290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817394" y="1107281"/>
              <a:ext cx="557212" cy="578644"/>
            </a:xfrm>
            <a:custGeom>
              <a:avLst/>
              <a:gdLst/>
              <a:ahLst/>
              <a:cxnLst/>
              <a:rect l="l" t="t" r="r" b="b"/>
              <a:pathLst>
                <a:path w="557212" h="578644">
                  <a:moveTo>
                    <a:pt x="471488" y="107156"/>
                  </a:moveTo>
                  <a:lnTo>
                    <a:pt x="300038" y="107156"/>
                  </a:lnTo>
                  <a:lnTo>
                    <a:pt x="300038" y="21431"/>
                  </a:lnTo>
                  <a:cubicBezTo>
                    <a:pt x="300038" y="9595"/>
                    <a:pt x="290442" y="0"/>
                    <a:pt x="278606" y="0"/>
                  </a:cubicBezTo>
                  <a:cubicBezTo>
                    <a:pt x="266770" y="0"/>
                    <a:pt x="257175" y="9595"/>
                    <a:pt x="257175" y="21431"/>
                  </a:cubicBezTo>
                  <a:lnTo>
                    <a:pt x="257175" y="107156"/>
                  </a:lnTo>
                  <a:lnTo>
                    <a:pt x="85725" y="107156"/>
                  </a:lnTo>
                  <a:cubicBezTo>
                    <a:pt x="38380" y="107156"/>
                    <a:pt x="0" y="145537"/>
                    <a:pt x="0" y="192881"/>
                  </a:cubicBezTo>
                  <a:lnTo>
                    <a:pt x="0" y="492919"/>
                  </a:lnTo>
                  <a:cubicBezTo>
                    <a:pt x="0" y="540263"/>
                    <a:pt x="38380" y="578644"/>
                    <a:pt x="85725" y="578644"/>
                  </a:cubicBezTo>
                  <a:lnTo>
                    <a:pt x="471488" y="578644"/>
                  </a:lnTo>
                  <a:cubicBezTo>
                    <a:pt x="518832" y="578644"/>
                    <a:pt x="557212" y="540263"/>
                    <a:pt x="557212" y="492919"/>
                  </a:cubicBezTo>
                  <a:lnTo>
                    <a:pt x="557212" y="192881"/>
                  </a:lnTo>
                  <a:cubicBezTo>
                    <a:pt x="557212" y="145537"/>
                    <a:pt x="518832" y="107156"/>
                    <a:pt x="471488" y="107156"/>
                  </a:cubicBezTo>
                  <a:close/>
                  <a:moveTo>
                    <a:pt x="514350" y="492919"/>
                  </a:moveTo>
                  <a:cubicBezTo>
                    <a:pt x="514350" y="516591"/>
                    <a:pt x="495160" y="535781"/>
                    <a:pt x="471488" y="535781"/>
                  </a:cubicBezTo>
                  <a:lnTo>
                    <a:pt x="85725" y="535781"/>
                  </a:lnTo>
                  <a:cubicBezTo>
                    <a:pt x="62053" y="535781"/>
                    <a:pt x="42862" y="516591"/>
                    <a:pt x="42862" y="492919"/>
                  </a:cubicBezTo>
                  <a:lnTo>
                    <a:pt x="42862" y="192881"/>
                  </a:lnTo>
                  <a:cubicBezTo>
                    <a:pt x="42862" y="169209"/>
                    <a:pt x="62053" y="150019"/>
                    <a:pt x="85725" y="150019"/>
                  </a:cubicBezTo>
                  <a:lnTo>
                    <a:pt x="471488" y="150019"/>
                  </a:lnTo>
                  <a:cubicBezTo>
                    <a:pt x="495160" y="150019"/>
                    <a:pt x="514350" y="169209"/>
                    <a:pt x="514350" y="192881"/>
                  </a:cubicBezTo>
                  <a:close/>
                  <a:moveTo>
                    <a:pt x="375047" y="342900"/>
                  </a:moveTo>
                  <a:lnTo>
                    <a:pt x="182166" y="342900"/>
                  </a:lnTo>
                  <a:cubicBezTo>
                    <a:pt x="140739" y="342900"/>
                    <a:pt x="107156" y="376483"/>
                    <a:pt x="107156" y="417909"/>
                  </a:cubicBezTo>
                  <a:cubicBezTo>
                    <a:pt x="107156" y="459336"/>
                    <a:pt x="140739" y="492919"/>
                    <a:pt x="182166" y="492919"/>
                  </a:cubicBezTo>
                  <a:lnTo>
                    <a:pt x="375047" y="492919"/>
                  </a:lnTo>
                  <a:cubicBezTo>
                    <a:pt x="416473" y="492919"/>
                    <a:pt x="450056" y="459336"/>
                    <a:pt x="450056" y="417909"/>
                  </a:cubicBezTo>
                  <a:cubicBezTo>
                    <a:pt x="450056" y="376483"/>
                    <a:pt x="416473" y="342900"/>
                    <a:pt x="375047" y="342900"/>
                  </a:cubicBezTo>
                  <a:close/>
                  <a:moveTo>
                    <a:pt x="300038" y="385762"/>
                  </a:moveTo>
                  <a:lnTo>
                    <a:pt x="300038" y="450056"/>
                  </a:lnTo>
                  <a:lnTo>
                    <a:pt x="257175" y="450056"/>
                  </a:lnTo>
                  <a:lnTo>
                    <a:pt x="257175" y="385762"/>
                  </a:lnTo>
                  <a:close/>
                  <a:moveTo>
                    <a:pt x="150019" y="417909"/>
                  </a:moveTo>
                  <a:cubicBezTo>
                    <a:pt x="150019" y="400155"/>
                    <a:pt x="164411" y="385762"/>
                    <a:pt x="182166" y="385762"/>
                  </a:cubicBezTo>
                  <a:lnTo>
                    <a:pt x="214312" y="385762"/>
                  </a:lnTo>
                  <a:lnTo>
                    <a:pt x="214312" y="450056"/>
                  </a:lnTo>
                  <a:lnTo>
                    <a:pt x="182166" y="450056"/>
                  </a:lnTo>
                  <a:cubicBezTo>
                    <a:pt x="164411" y="450056"/>
                    <a:pt x="150019" y="435664"/>
                    <a:pt x="150019" y="417909"/>
                  </a:cubicBezTo>
                  <a:close/>
                  <a:moveTo>
                    <a:pt x="375047" y="450056"/>
                  </a:moveTo>
                  <a:lnTo>
                    <a:pt x="342900" y="450056"/>
                  </a:lnTo>
                  <a:lnTo>
                    <a:pt x="342900" y="385762"/>
                  </a:lnTo>
                  <a:lnTo>
                    <a:pt x="375047" y="385762"/>
                  </a:lnTo>
                  <a:cubicBezTo>
                    <a:pt x="392801" y="385762"/>
                    <a:pt x="407194" y="400155"/>
                    <a:pt x="407194" y="417909"/>
                  </a:cubicBezTo>
                  <a:cubicBezTo>
                    <a:pt x="407194" y="435664"/>
                    <a:pt x="392801" y="450056"/>
                    <a:pt x="375047" y="450056"/>
                  </a:cubicBezTo>
                  <a:close/>
                  <a:moveTo>
                    <a:pt x="128588" y="267891"/>
                  </a:moveTo>
                  <a:cubicBezTo>
                    <a:pt x="128588" y="250136"/>
                    <a:pt x="142980" y="235744"/>
                    <a:pt x="160734" y="235744"/>
                  </a:cubicBezTo>
                  <a:cubicBezTo>
                    <a:pt x="178489" y="235744"/>
                    <a:pt x="192881" y="250136"/>
                    <a:pt x="192881" y="267891"/>
                  </a:cubicBezTo>
                  <a:cubicBezTo>
                    <a:pt x="192881" y="285645"/>
                    <a:pt x="178489" y="300038"/>
                    <a:pt x="160734" y="300038"/>
                  </a:cubicBezTo>
                  <a:cubicBezTo>
                    <a:pt x="142980" y="300038"/>
                    <a:pt x="128588" y="285645"/>
                    <a:pt x="128588" y="267891"/>
                  </a:cubicBezTo>
                  <a:close/>
                  <a:moveTo>
                    <a:pt x="364331" y="267891"/>
                  </a:moveTo>
                  <a:cubicBezTo>
                    <a:pt x="364331" y="250136"/>
                    <a:pt x="378724" y="235744"/>
                    <a:pt x="396478" y="235744"/>
                  </a:cubicBezTo>
                  <a:cubicBezTo>
                    <a:pt x="414232" y="235744"/>
                    <a:pt x="428625" y="250136"/>
                    <a:pt x="428625" y="267891"/>
                  </a:cubicBezTo>
                  <a:cubicBezTo>
                    <a:pt x="428625" y="285645"/>
                    <a:pt x="414232" y="300038"/>
                    <a:pt x="396478" y="300038"/>
                  </a:cubicBezTo>
                  <a:cubicBezTo>
                    <a:pt x="378724" y="300038"/>
                    <a:pt x="364331" y="285645"/>
                    <a:pt x="364331" y="26789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258616" y="2358390"/>
            <a:ext cx="767476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中小型大模型在多智能体系统中的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76805" y="2948940"/>
            <a:ext cx="463838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作用与发展前景综述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38500" y="4095750"/>
            <a:ext cx="5715000" cy="38100"/>
          </a:xfrm>
          <a:custGeom>
            <a:avLst/>
            <a:gdLst/>
            <a:ahLst/>
            <a:cxnLst/>
            <a:rect l="l" t="t" r="r" b="b"/>
            <a:pathLst>
              <a:path w="5715000" h="38100">
                <a:moveTo>
                  <a:pt x="19050" y="0"/>
                </a:moveTo>
                <a:lnTo>
                  <a:pt x="5695950" y="0"/>
                </a:lnTo>
                <a:cubicBezTo>
                  <a:pt x="5706471" y="0"/>
                  <a:pt x="5715000" y="8529"/>
                  <a:pt x="5715000" y="19050"/>
                </a:cubicBezTo>
                <a:lnTo>
                  <a:pt x="5715000" y="19050"/>
                </a:lnTo>
                <a:cubicBezTo>
                  <a:pt x="5715000" y="29571"/>
                  <a:pt x="5706471" y="38100"/>
                  <a:pt x="5695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607594" y="4445794"/>
            <a:ext cx="49768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低成本、可部署、可角色化的基础执行层</a:t>
            </a:r>
          </a:p>
        </p:txBody>
      </p:sp>
      <p:sp>
        <p:nvSpPr>
          <p:cNvPr id="15" name="Freeform 15"/>
          <p:cNvSpPr/>
          <p:nvPr/>
        </p:nvSpPr>
        <p:spPr>
          <a:xfrm>
            <a:off x="3486150" y="525780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180975" y="0"/>
                </a:moveTo>
                <a:lnTo>
                  <a:pt x="1247775" y="0"/>
                </a:lnTo>
                <a:cubicBezTo>
                  <a:pt x="1347725" y="0"/>
                  <a:pt x="1428750" y="81025"/>
                  <a:pt x="1428750" y="180975"/>
                </a:cubicBezTo>
                <a:lnTo>
                  <a:pt x="1428750" y="180975"/>
                </a:lnTo>
                <a:cubicBezTo>
                  <a:pt x="1428750" y="280925"/>
                  <a:pt x="1347725" y="361950"/>
                  <a:pt x="124777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837087" y="5374481"/>
            <a:ext cx="7268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LLM-MAS</a:t>
            </a:r>
          </a:p>
        </p:txBody>
      </p:sp>
      <p:sp>
        <p:nvSpPr>
          <p:cNvPr id="17" name="Freeform 17"/>
          <p:cNvSpPr/>
          <p:nvPr/>
        </p:nvSpPr>
        <p:spPr>
          <a:xfrm>
            <a:off x="5162550" y="525780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180975" y="0"/>
                </a:moveTo>
                <a:lnTo>
                  <a:pt x="1247775" y="0"/>
                </a:lnTo>
                <a:cubicBezTo>
                  <a:pt x="1347725" y="0"/>
                  <a:pt x="1428750" y="81025"/>
                  <a:pt x="1428750" y="180975"/>
                </a:cubicBezTo>
                <a:lnTo>
                  <a:pt x="1428750" y="180975"/>
                </a:lnTo>
                <a:cubicBezTo>
                  <a:pt x="1428750" y="280925"/>
                  <a:pt x="1347725" y="361950"/>
                  <a:pt x="124777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534025" y="53744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模型路由</a:t>
            </a:r>
          </a:p>
        </p:txBody>
      </p:sp>
      <p:sp>
        <p:nvSpPr>
          <p:cNvPr id="19" name="Freeform 19"/>
          <p:cNvSpPr/>
          <p:nvPr/>
        </p:nvSpPr>
        <p:spPr>
          <a:xfrm>
            <a:off x="6838950" y="5257800"/>
            <a:ext cx="1866900" cy="361950"/>
          </a:xfrm>
          <a:custGeom>
            <a:avLst/>
            <a:gdLst/>
            <a:ahLst/>
            <a:cxnLst/>
            <a:rect l="l" t="t" r="r" b="b"/>
            <a:pathLst>
              <a:path w="1866900" h="361950">
                <a:moveTo>
                  <a:pt x="180975" y="0"/>
                </a:moveTo>
                <a:lnTo>
                  <a:pt x="1685925" y="0"/>
                </a:lnTo>
                <a:cubicBezTo>
                  <a:pt x="1785875" y="0"/>
                  <a:pt x="1866900" y="81025"/>
                  <a:pt x="1866900" y="180975"/>
                </a:cubicBezTo>
                <a:lnTo>
                  <a:pt x="1866900" y="180975"/>
                </a:lnTo>
                <a:cubicBezTo>
                  <a:pt x="1866900" y="280925"/>
                  <a:pt x="1785875" y="361950"/>
                  <a:pt x="16859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429500" y="53744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安全治理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29652" y="63988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01 / 10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015" y="296228"/>
            <a:ext cx="514840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从单模型问答到多智能体协作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4350" y="1038225"/>
            <a:ext cx="7486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核心判断：系统价值来自角色分工、通信协作、工具调用和治理机制的组合。</a:t>
            </a:r>
          </a:p>
        </p:txBody>
      </p:sp>
      <p:sp>
        <p:nvSpPr>
          <p:cNvPr id="6" name="Freeform 6"/>
          <p:cNvSpPr/>
          <p:nvPr/>
        </p:nvSpPr>
        <p:spPr>
          <a:xfrm>
            <a:off x="533400" y="1619250"/>
            <a:ext cx="4400550" cy="4095750"/>
          </a:xfrm>
          <a:custGeom>
            <a:avLst/>
            <a:gdLst/>
            <a:ahLst/>
            <a:cxnLst/>
            <a:rect l="l" t="t" r="r" b="b"/>
            <a:pathLst>
              <a:path w="4400550" h="4095750">
                <a:moveTo>
                  <a:pt x="171450" y="0"/>
                </a:moveTo>
                <a:lnTo>
                  <a:pt x="4229100" y="0"/>
                </a:lnTo>
                <a:cubicBezTo>
                  <a:pt x="4323789" y="0"/>
                  <a:pt x="4400550" y="76761"/>
                  <a:pt x="4400550" y="171450"/>
                </a:cubicBezTo>
                <a:lnTo>
                  <a:pt x="4400550" y="3924300"/>
                </a:lnTo>
                <a:cubicBezTo>
                  <a:pt x="4400550" y="4018989"/>
                  <a:pt x="4323789" y="4095750"/>
                  <a:pt x="4229100" y="4095750"/>
                </a:cubicBezTo>
                <a:lnTo>
                  <a:pt x="171450" y="4095750"/>
                </a:lnTo>
                <a:cubicBezTo>
                  <a:pt x="76761" y="4095750"/>
                  <a:pt x="0" y="4018989"/>
                  <a:pt x="0" y="3924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866775" y="2047875"/>
            <a:ext cx="400050" cy="342900"/>
            <a:chOff x="866775" y="2047875"/>
            <a:chExt cx="400050" cy="342900"/>
          </a:xfrm>
        </p:grpSpPr>
        <p:sp>
          <p:nvSpPr>
            <p:cNvPr id="7" name="Freeform 7"/>
            <p:cNvSpPr/>
            <p:nvPr/>
          </p:nvSpPr>
          <p:spPr>
            <a:xfrm>
              <a:off x="1066800" y="2062162"/>
              <a:ext cx="185738" cy="314325"/>
            </a:xfrm>
            <a:custGeom>
              <a:avLst/>
              <a:gdLst/>
              <a:ahLst/>
              <a:cxnLst/>
              <a:rect l="l" t="t" r="r" b="b"/>
              <a:pathLst>
                <a:path w="185738" h="314325">
                  <a:moveTo>
                    <a:pt x="185738" y="14288"/>
                  </a:moveTo>
                  <a:lnTo>
                    <a:pt x="185738" y="242888"/>
                  </a:lnTo>
                  <a:cubicBezTo>
                    <a:pt x="185738" y="250778"/>
                    <a:pt x="179341" y="257175"/>
                    <a:pt x="171450" y="257175"/>
                  </a:cubicBezTo>
                  <a:lnTo>
                    <a:pt x="57150" y="257175"/>
                  </a:lnTo>
                  <a:cubicBezTo>
                    <a:pt x="25587" y="257175"/>
                    <a:pt x="0" y="282762"/>
                    <a:pt x="0" y="3143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lnTo>
                    <a:pt x="171450" y="0"/>
                  </a:lnTo>
                  <a:cubicBezTo>
                    <a:pt x="179341" y="0"/>
                    <a:pt x="185738" y="6397"/>
                    <a:pt x="185738" y="142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66775" y="2047875"/>
              <a:ext cx="400050" cy="342900"/>
            </a:xfrm>
            <a:custGeom>
              <a:avLst/>
              <a:gdLst/>
              <a:ahLst/>
              <a:cxnLst/>
              <a:rect l="l" t="t" r="r" b="b"/>
              <a:pathLst>
                <a:path w="400050" h="342900">
                  <a:moveTo>
                    <a:pt x="371475" y="0"/>
                  </a:moveTo>
                  <a:lnTo>
                    <a:pt x="257175" y="0"/>
                  </a:lnTo>
                  <a:cubicBezTo>
                    <a:pt x="234690" y="0"/>
                    <a:pt x="213516" y="10587"/>
                    <a:pt x="200025" y="28575"/>
                  </a:cubicBezTo>
                  <a:cubicBezTo>
                    <a:pt x="186534" y="10587"/>
                    <a:pt x="165360" y="0"/>
                    <a:pt x="142875" y="0"/>
                  </a:cubicBezTo>
                  <a:lnTo>
                    <a:pt x="28575" y="0"/>
                  </a:lnTo>
                  <a:cubicBezTo>
                    <a:pt x="12793" y="0"/>
                    <a:pt x="0" y="12793"/>
                    <a:pt x="0" y="28575"/>
                  </a:cubicBezTo>
                  <a:lnTo>
                    <a:pt x="0" y="257175"/>
                  </a:lnTo>
                  <a:cubicBezTo>
                    <a:pt x="0" y="272957"/>
                    <a:pt x="12793" y="285750"/>
                    <a:pt x="28575" y="285750"/>
                  </a:cubicBezTo>
                  <a:lnTo>
                    <a:pt x="142875" y="285750"/>
                  </a:lnTo>
                  <a:cubicBezTo>
                    <a:pt x="166547" y="285750"/>
                    <a:pt x="185738" y="304940"/>
                    <a:pt x="185738" y="328612"/>
                  </a:cubicBezTo>
                  <a:cubicBezTo>
                    <a:pt x="185738" y="336503"/>
                    <a:pt x="192134" y="342900"/>
                    <a:pt x="200025" y="342900"/>
                  </a:cubicBezTo>
                  <a:cubicBezTo>
                    <a:pt x="207916" y="342900"/>
                    <a:pt x="214312" y="336503"/>
                    <a:pt x="214312" y="328612"/>
                  </a:cubicBezTo>
                  <a:cubicBezTo>
                    <a:pt x="214312" y="304940"/>
                    <a:pt x="233503" y="285750"/>
                    <a:pt x="257175" y="285750"/>
                  </a:cubicBezTo>
                  <a:lnTo>
                    <a:pt x="371475" y="285750"/>
                  </a:lnTo>
                  <a:cubicBezTo>
                    <a:pt x="387257" y="285750"/>
                    <a:pt x="400050" y="272957"/>
                    <a:pt x="400050" y="257175"/>
                  </a:cubicBezTo>
                  <a:lnTo>
                    <a:pt x="400050" y="28575"/>
                  </a:lnTo>
                  <a:cubicBezTo>
                    <a:pt x="400050" y="12793"/>
                    <a:pt x="387257" y="0"/>
                    <a:pt x="371475" y="0"/>
                  </a:cubicBezTo>
                  <a:close/>
                  <a:moveTo>
                    <a:pt x="142875" y="257175"/>
                  </a:moveTo>
                  <a:lnTo>
                    <a:pt x="28575" y="257175"/>
                  </a:lnTo>
                  <a:lnTo>
                    <a:pt x="28575" y="28575"/>
                  </a:lnTo>
                  <a:lnTo>
                    <a:pt x="142875" y="28575"/>
                  </a:lnTo>
                  <a:cubicBezTo>
                    <a:pt x="166547" y="28575"/>
                    <a:pt x="185738" y="47765"/>
                    <a:pt x="185738" y="71438"/>
                  </a:cubicBezTo>
                  <a:lnTo>
                    <a:pt x="185738" y="271462"/>
                  </a:lnTo>
                  <a:cubicBezTo>
                    <a:pt x="173384" y="262166"/>
                    <a:pt x="158336" y="257150"/>
                    <a:pt x="142875" y="257175"/>
                  </a:cubicBezTo>
                  <a:close/>
                  <a:moveTo>
                    <a:pt x="371475" y="257175"/>
                  </a:moveTo>
                  <a:lnTo>
                    <a:pt x="257175" y="257175"/>
                  </a:lnTo>
                  <a:cubicBezTo>
                    <a:pt x="241714" y="257150"/>
                    <a:pt x="226666" y="262166"/>
                    <a:pt x="214312" y="271462"/>
                  </a:cubicBezTo>
                  <a:lnTo>
                    <a:pt x="214312" y="71438"/>
                  </a:lnTo>
                  <a:cubicBezTo>
                    <a:pt x="214312" y="47765"/>
                    <a:pt x="233503" y="28575"/>
                    <a:pt x="257175" y="28575"/>
                  </a:cubicBezTo>
                  <a:lnTo>
                    <a:pt x="371475" y="28575"/>
                  </a:lnTo>
                  <a:close/>
                  <a:moveTo>
                    <a:pt x="257175" y="71438"/>
                  </a:moveTo>
                  <a:lnTo>
                    <a:pt x="328612" y="71438"/>
                  </a:lnTo>
                  <a:cubicBezTo>
                    <a:pt x="336503" y="71438"/>
                    <a:pt x="342900" y="77834"/>
                    <a:pt x="342900" y="85725"/>
                  </a:cubicBezTo>
                  <a:cubicBezTo>
                    <a:pt x="342900" y="93616"/>
                    <a:pt x="336503" y="100012"/>
                    <a:pt x="328612" y="100012"/>
                  </a:cubicBezTo>
                  <a:lnTo>
                    <a:pt x="257175" y="100012"/>
                  </a:lnTo>
                  <a:cubicBezTo>
                    <a:pt x="249284" y="100012"/>
                    <a:pt x="242888" y="93616"/>
                    <a:pt x="242888" y="85725"/>
                  </a:cubicBezTo>
                  <a:cubicBezTo>
                    <a:pt x="242888" y="77834"/>
                    <a:pt x="249284" y="71438"/>
                    <a:pt x="257175" y="71438"/>
                  </a:cubicBezTo>
                  <a:close/>
                  <a:moveTo>
                    <a:pt x="342900" y="142875"/>
                  </a:moveTo>
                  <a:cubicBezTo>
                    <a:pt x="342900" y="150766"/>
                    <a:pt x="336503" y="157162"/>
                    <a:pt x="328612" y="157162"/>
                  </a:cubicBezTo>
                  <a:lnTo>
                    <a:pt x="257175" y="157162"/>
                  </a:lnTo>
                  <a:cubicBezTo>
                    <a:pt x="249284" y="157162"/>
                    <a:pt x="242888" y="150766"/>
                    <a:pt x="242888" y="142875"/>
                  </a:cubicBezTo>
                  <a:cubicBezTo>
                    <a:pt x="242888" y="134984"/>
                    <a:pt x="249284" y="128588"/>
                    <a:pt x="257175" y="128588"/>
                  </a:cubicBezTo>
                  <a:lnTo>
                    <a:pt x="328612" y="128588"/>
                  </a:lnTo>
                  <a:cubicBezTo>
                    <a:pt x="336503" y="128588"/>
                    <a:pt x="342900" y="134984"/>
                    <a:pt x="342900" y="142875"/>
                  </a:cubicBezTo>
                  <a:close/>
                  <a:moveTo>
                    <a:pt x="342900" y="200025"/>
                  </a:moveTo>
                  <a:cubicBezTo>
                    <a:pt x="342900" y="207916"/>
                    <a:pt x="336503" y="214312"/>
                    <a:pt x="328612" y="214312"/>
                  </a:cubicBezTo>
                  <a:lnTo>
                    <a:pt x="257175" y="214312"/>
                  </a:lnTo>
                  <a:cubicBezTo>
                    <a:pt x="249284" y="214312"/>
                    <a:pt x="242888" y="207916"/>
                    <a:pt x="242888" y="200025"/>
                  </a:cubicBezTo>
                  <a:cubicBezTo>
                    <a:pt x="242888" y="192134"/>
                    <a:pt x="249284" y="185738"/>
                    <a:pt x="257175" y="185738"/>
                  </a:cubicBezTo>
                  <a:lnTo>
                    <a:pt x="328612" y="185738"/>
                  </a:lnTo>
                  <a:cubicBezTo>
                    <a:pt x="336503" y="185738"/>
                    <a:pt x="342900" y="192134"/>
                    <a:pt x="342900" y="200025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423988" y="1950244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问题背景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9150" y="261937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大模型应用正在从内容生成走向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9150" y="290512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目标驱动的任务执行。多智能体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9150" y="319087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系统进一步要求多个角色共同完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9150" y="347662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成规划、检索、工具调用、评审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150" y="37623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和安全控制。</a:t>
            </a:r>
          </a:p>
        </p:txBody>
      </p:sp>
      <p:sp>
        <p:nvSpPr>
          <p:cNvPr id="16" name="Freeform 16"/>
          <p:cNvSpPr/>
          <p:nvPr/>
        </p:nvSpPr>
        <p:spPr>
          <a:xfrm>
            <a:off x="838200" y="4762500"/>
            <a:ext cx="3429000" cy="552450"/>
          </a:xfrm>
          <a:custGeom>
            <a:avLst/>
            <a:gdLst/>
            <a:ahLst/>
            <a:cxnLst/>
            <a:rect l="l" t="t" r="r" b="b"/>
            <a:pathLst>
              <a:path w="3429000" h="5524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419100"/>
                </a:lnTo>
                <a:cubicBezTo>
                  <a:pt x="3429000" y="492747"/>
                  <a:pt x="3369297" y="552450"/>
                  <a:pt x="329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09650" y="4943475"/>
            <a:ext cx="41786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关键问题：每个角色都需要超大模型吗？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334000" y="1619250"/>
            <a:ext cx="3571875" cy="1257300"/>
            <a:chOff x="5334000" y="1619250"/>
            <a:chExt cx="3571875" cy="1257300"/>
          </a:xfrm>
        </p:grpSpPr>
        <p:sp>
          <p:nvSpPr>
            <p:cNvPr id="18" name="Freeform 18"/>
            <p:cNvSpPr/>
            <p:nvPr/>
          </p:nvSpPr>
          <p:spPr>
            <a:xfrm>
              <a:off x="5334000" y="161925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612589" y="1966036"/>
              <a:ext cx="412991" cy="303861"/>
              <a:chOff x="5612589" y="1966036"/>
              <a:chExt cx="412991" cy="30386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655469" y="1981795"/>
                <a:ext cx="328612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19075">
                    <a:moveTo>
                      <a:pt x="232767" y="150614"/>
                    </a:moveTo>
                    <a:cubicBezTo>
                      <a:pt x="232767" y="188424"/>
                      <a:pt x="202116" y="219075"/>
                      <a:pt x="164306" y="219075"/>
                    </a:cubicBezTo>
                    <a:cubicBezTo>
                      <a:pt x="126496" y="219075"/>
                      <a:pt x="95845" y="188424"/>
                      <a:pt x="95845" y="150614"/>
                    </a:cubicBezTo>
                    <a:cubicBezTo>
                      <a:pt x="95845" y="112804"/>
                      <a:pt x="126496" y="82153"/>
                      <a:pt x="164306" y="82153"/>
                    </a:cubicBezTo>
                    <a:cubicBezTo>
                      <a:pt x="202116" y="82153"/>
                      <a:pt x="232767" y="112804"/>
                      <a:pt x="232767" y="150614"/>
                    </a:cubicBezTo>
                    <a:close/>
                    <a:moveTo>
                      <a:pt x="54769" y="0"/>
                    </a:moveTo>
                    <a:cubicBezTo>
                      <a:pt x="24521" y="0"/>
                      <a:pt x="0" y="24521"/>
                      <a:pt x="0" y="54769"/>
                    </a:cubicBezTo>
                    <a:cubicBezTo>
                      <a:pt x="0" y="85017"/>
                      <a:pt x="24521" y="109538"/>
                      <a:pt x="54769" y="109538"/>
                    </a:cubicBezTo>
                    <a:cubicBezTo>
                      <a:pt x="85017" y="109538"/>
                      <a:pt x="109538" y="85017"/>
                      <a:pt x="109538" y="54769"/>
                    </a:cubicBezTo>
                    <a:cubicBezTo>
                      <a:pt x="109538" y="24521"/>
                      <a:pt x="85017" y="0"/>
                      <a:pt x="54769" y="0"/>
                    </a:cubicBezTo>
                    <a:close/>
                    <a:moveTo>
                      <a:pt x="273844" y="0"/>
                    </a:moveTo>
                    <a:cubicBezTo>
                      <a:pt x="243596" y="0"/>
                      <a:pt x="219075" y="24521"/>
                      <a:pt x="219075" y="54769"/>
                    </a:cubicBezTo>
                    <a:cubicBezTo>
                      <a:pt x="219075" y="85017"/>
                      <a:pt x="243596" y="109538"/>
                      <a:pt x="273844" y="109538"/>
                    </a:cubicBezTo>
                    <a:cubicBezTo>
                      <a:pt x="304092" y="109538"/>
                      <a:pt x="328612" y="85017"/>
                      <a:pt x="328612" y="54769"/>
                    </a:cubicBezTo>
                    <a:cubicBezTo>
                      <a:pt x="328612" y="24521"/>
                      <a:pt x="304092" y="0"/>
                      <a:pt x="273844" y="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612589" y="1966036"/>
                <a:ext cx="412991" cy="303861"/>
              </a:xfrm>
              <a:custGeom>
                <a:avLst/>
                <a:gdLst/>
                <a:ahLst/>
                <a:cxnLst/>
                <a:rect l="l" t="t" r="r" b="b"/>
                <a:pathLst>
                  <a:path w="412991" h="303861">
                    <a:moveTo>
                      <a:pt x="407092" y="177327"/>
                    </a:moveTo>
                    <a:cubicBezTo>
                      <a:pt x="401043" y="181864"/>
                      <a:pt x="392460" y="180638"/>
                      <a:pt x="387923" y="174588"/>
                    </a:cubicBezTo>
                    <a:cubicBezTo>
                      <a:pt x="371187" y="152092"/>
                      <a:pt x="344763" y="138880"/>
                      <a:pt x="316724" y="138989"/>
                    </a:cubicBezTo>
                    <a:cubicBezTo>
                      <a:pt x="309162" y="138989"/>
                      <a:pt x="303032" y="132858"/>
                      <a:pt x="303032" y="125296"/>
                    </a:cubicBezTo>
                    <a:cubicBezTo>
                      <a:pt x="303032" y="117734"/>
                      <a:pt x="309162" y="111604"/>
                      <a:pt x="316724" y="111604"/>
                    </a:cubicBezTo>
                    <a:cubicBezTo>
                      <a:pt x="338070" y="111602"/>
                      <a:pt x="355857" y="95251"/>
                      <a:pt x="357651" y="73981"/>
                    </a:cubicBezTo>
                    <a:cubicBezTo>
                      <a:pt x="359446" y="52711"/>
                      <a:pt x="344650" y="33611"/>
                      <a:pt x="323606" y="30032"/>
                    </a:cubicBezTo>
                    <a:cubicBezTo>
                      <a:pt x="302562" y="26454"/>
                      <a:pt x="282284" y="39590"/>
                      <a:pt x="276948" y="60259"/>
                    </a:cubicBezTo>
                    <a:cubicBezTo>
                      <a:pt x="275057" y="67584"/>
                      <a:pt x="267586" y="71990"/>
                      <a:pt x="260261" y="70100"/>
                    </a:cubicBezTo>
                    <a:cubicBezTo>
                      <a:pt x="252935" y="68209"/>
                      <a:pt x="248529" y="60738"/>
                      <a:pt x="250419" y="53412"/>
                    </a:cubicBezTo>
                    <a:cubicBezTo>
                      <a:pt x="257732" y="25118"/>
                      <a:pt x="282198" y="4585"/>
                      <a:pt x="311332" y="2292"/>
                    </a:cubicBezTo>
                    <a:cubicBezTo>
                      <a:pt x="340466" y="0"/>
                      <a:pt x="367843" y="16454"/>
                      <a:pt x="379491" y="43256"/>
                    </a:cubicBezTo>
                    <a:cubicBezTo>
                      <a:pt x="391138" y="70059"/>
                      <a:pt x="384489" y="101299"/>
                      <a:pt x="362935" y="121035"/>
                    </a:cubicBezTo>
                    <a:cubicBezTo>
                      <a:pt x="381553" y="129096"/>
                      <a:pt x="397738" y="141888"/>
                      <a:pt x="409882" y="158141"/>
                    </a:cubicBezTo>
                    <a:cubicBezTo>
                      <a:pt x="412061" y="161053"/>
                      <a:pt x="412991" y="164713"/>
                      <a:pt x="412468" y="168312"/>
                    </a:cubicBezTo>
                    <a:cubicBezTo>
                      <a:pt x="411944" y="171912"/>
                      <a:pt x="410010" y="175155"/>
                      <a:pt x="407092" y="177327"/>
                    </a:cubicBezTo>
                    <a:close/>
                    <a:moveTo>
                      <a:pt x="314875" y="282757"/>
                    </a:moveTo>
                    <a:cubicBezTo>
                      <a:pt x="317478" y="287000"/>
                      <a:pt x="317572" y="292321"/>
                      <a:pt x="315122" y="296654"/>
                    </a:cubicBezTo>
                    <a:cubicBezTo>
                      <a:pt x="312672" y="300987"/>
                      <a:pt x="308063" y="303649"/>
                      <a:pt x="303086" y="303607"/>
                    </a:cubicBezTo>
                    <a:cubicBezTo>
                      <a:pt x="298108" y="303564"/>
                      <a:pt x="293546" y="300823"/>
                      <a:pt x="291171" y="296449"/>
                    </a:cubicBezTo>
                    <a:cubicBezTo>
                      <a:pt x="273620" y="266742"/>
                      <a:pt x="241682" y="248516"/>
                      <a:pt x="207178" y="248516"/>
                    </a:cubicBezTo>
                    <a:cubicBezTo>
                      <a:pt x="172674" y="248516"/>
                      <a:pt x="140736" y="266742"/>
                      <a:pt x="123185" y="296449"/>
                    </a:cubicBezTo>
                    <a:cubicBezTo>
                      <a:pt x="120853" y="300905"/>
                      <a:pt x="116267" y="303725"/>
                      <a:pt x="111238" y="303793"/>
                    </a:cubicBezTo>
                    <a:cubicBezTo>
                      <a:pt x="106209" y="303861"/>
                      <a:pt x="101547" y="301167"/>
                      <a:pt x="99096" y="296775"/>
                    </a:cubicBezTo>
                    <a:cubicBezTo>
                      <a:pt x="96645" y="292383"/>
                      <a:pt x="96799" y="287001"/>
                      <a:pt x="99497" y="282757"/>
                    </a:cubicBezTo>
                    <a:cubicBezTo>
                      <a:pt x="112772" y="259948"/>
                      <a:pt x="133012" y="242000"/>
                      <a:pt x="157244" y="231548"/>
                    </a:cubicBezTo>
                    <a:cubicBezTo>
                      <a:pt x="129286" y="210142"/>
                      <a:pt x="118078" y="173301"/>
                      <a:pt x="129379" y="139952"/>
                    </a:cubicBezTo>
                    <a:cubicBezTo>
                      <a:pt x="140679" y="106604"/>
                      <a:pt x="171975" y="84165"/>
                      <a:pt x="207186" y="84165"/>
                    </a:cubicBezTo>
                    <a:cubicBezTo>
                      <a:pt x="242397" y="84165"/>
                      <a:pt x="273693" y="106604"/>
                      <a:pt x="284994" y="139952"/>
                    </a:cubicBezTo>
                    <a:cubicBezTo>
                      <a:pt x="296294" y="173301"/>
                      <a:pt x="285086" y="210142"/>
                      <a:pt x="257129" y="231548"/>
                    </a:cubicBezTo>
                    <a:cubicBezTo>
                      <a:pt x="281360" y="242000"/>
                      <a:pt x="301601" y="259948"/>
                      <a:pt x="314875" y="282757"/>
                    </a:cubicBezTo>
                    <a:close/>
                    <a:moveTo>
                      <a:pt x="207186" y="221142"/>
                    </a:moveTo>
                    <a:cubicBezTo>
                      <a:pt x="237434" y="221142"/>
                      <a:pt x="261955" y="196621"/>
                      <a:pt x="261955" y="166373"/>
                    </a:cubicBezTo>
                    <a:cubicBezTo>
                      <a:pt x="261955" y="136125"/>
                      <a:pt x="237434" y="111604"/>
                      <a:pt x="207186" y="111604"/>
                    </a:cubicBezTo>
                    <a:cubicBezTo>
                      <a:pt x="176938" y="111604"/>
                      <a:pt x="152418" y="136125"/>
                      <a:pt x="152418" y="166373"/>
                    </a:cubicBezTo>
                    <a:cubicBezTo>
                      <a:pt x="152418" y="196621"/>
                      <a:pt x="176938" y="221142"/>
                      <a:pt x="207186" y="221142"/>
                    </a:cubicBezTo>
                    <a:close/>
                    <a:moveTo>
                      <a:pt x="111341" y="125296"/>
                    </a:moveTo>
                    <a:cubicBezTo>
                      <a:pt x="111341" y="117734"/>
                      <a:pt x="105211" y="111604"/>
                      <a:pt x="97649" y="111604"/>
                    </a:cubicBezTo>
                    <a:cubicBezTo>
                      <a:pt x="76303" y="111602"/>
                      <a:pt x="58516" y="95251"/>
                      <a:pt x="56721" y="73981"/>
                    </a:cubicBezTo>
                    <a:cubicBezTo>
                      <a:pt x="54927" y="52711"/>
                      <a:pt x="69723" y="33611"/>
                      <a:pt x="90767" y="30032"/>
                    </a:cubicBezTo>
                    <a:cubicBezTo>
                      <a:pt x="111811" y="26454"/>
                      <a:pt x="132088" y="39590"/>
                      <a:pt x="137425" y="60259"/>
                    </a:cubicBezTo>
                    <a:cubicBezTo>
                      <a:pt x="139315" y="67584"/>
                      <a:pt x="146786" y="71990"/>
                      <a:pt x="154112" y="70100"/>
                    </a:cubicBezTo>
                    <a:cubicBezTo>
                      <a:pt x="161438" y="68209"/>
                      <a:pt x="165844" y="60738"/>
                      <a:pt x="163953" y="53412"/>
                    </a:cubicBezTo>
                    <a:cubicBezTo>
                      <a:pt x="156641" y="25118"/>
                      <a:pt x="132174" y="4585"/>
                      <a:pt x="103040" y="2292"/>
                    </a:cubicBezTo>
                    <a:cubicBezTo>
                      <a:pt x="73907" y="0"/>
                      <a:pt x="46530" y="16454"/>
                      <a:pt x="34882" y="43256"/>
                    </a:cubicBezTo>
                    <a:cubicBezTo>
                      <a:pt x="23234" y="70059"/>
                      <a:pt x="29884" y="101299"/>
                      <a:pt x="51438" y="121035"/>
                    </a:cubicBezTo>
                    <a:cubicBezTo>
                      <a:pt x="32838" y="129104"/>
                      <a:pt x="16672" y="141895"/>
                      <a:pt x="4542" y="158141"/>
                    </a:cubicBezTo>
                    <a:cubicBezTo>
                      <a:pt x="0" y="164190"/>
                      <a:pt x="1222" y="172776"/>
                      <a:pt x="7272" y="177318"/>
                    </a:cubicBezTo>
                    <a:cubicBezTo>
                      <a:pt x="13321" y="181860"/>
                      <a:pt x="21907" y="180638"/>
                      <a:pt x="26449" y="174588"/>
                    </a:cubicBezTo>
                    <a:cubicBezTo>
                      <a:pt x="43186" y="152092"/>
                      <a:pt x="69610" y="138880"/>
                      <a:pt x="97649" y="138989"/>
                    </a:cubicBezTo>
                    <a:cubicBezTo>
                      <a:pt x="105211" y="138989"/>
                      <a:pt x="111341" y="132858"/>
                      <a:pt x="111341" y="12529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186488" y="1940719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协作复杂度上升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81650" y="246697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智能体数量、轮次和状态管理增加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10600" y="1619250"/>
            <a:ext cx="3517106" cy="1257300"/>
            <a:chOff x="8610600" y="1619250"/>
            <a:chExt cx="3517106" cy="1257300"/>
          </a:xfrm>
        </p:grpSpPr>
        <p:sp>
          <p:nvSpPr>
            <p:cNvPr id="25" name="Freeform 25"/>
            <p:cNvSpPr/>
            <p:nvPr/>
          </p:nvSpPr>
          <p:spPr>
            <a:xfrm>
              <a:off x="8610600" y="161925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918377" y="1954411"/>
              <a:ext cx="355997" cy="301228"/>
              <a:chOff x="8918377" y="1954411"/>
              <a:chExt cx="355997" cy="30122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932069" y="1968103"/>
                <a:ext cx="328612" cy="273844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73844">
                    <a:moveTo>
                      <a:pt x="328612" y="13692"/>
                    </a:moveTo>
                    <a:lnTo>
                      <a:pt x="328612" y="273844"/>
                    </a:lnTo>
                    <a:lnTo>
                      <a:pt x="0" y="273844"/>
                    </a:lnTo>
                    <a:lnTo>
                      <a:pt x="0" y="0"/>
                    </a:lnTo>
                    <a:lnTo>
                      <a:pt x="314920" y="0"/>
                    </a:lnTo>
                    <a:cubicBezTo>
                      <a:pt x="322482" y="0"/>
                      <a:pt x="328612" y="6130"/>
                      <a:pt x="328612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918377" y="1954411"/>
                <a:ext cx="355997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355997" h="301228">
                    <a:moveTo>
                      <a:pt x="355997" y="287536"/>
                    </a:moveTo>
                    <a:cubicBezTo>
                      <a:pt x="355997" y="295098"/>
                      <a:pt x="349867" y="301228"/>
                      <a:pt x="342305" y="301228"/>
                    </a:cubicBezTo>
                    <a:lnTo>
                      <a:pt x="13692" y="301228"/>
                    </a:lnTo>
                    <a:cubicBezTo>
                      <a:pt x="6130" y="301228"/>
                      <a:pt x="0" y="295098"/>
                      <a:pt x="0" y="287536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cubicBezTo>
                      <a:pt x="21254" y="0"/>
                      <a:pt x="27384" y="6130"/>
                      <a:pt x="27384" y="13692"/>
                    </a:cubicBezTo>
                    <a:lnTo>
                      <a:pt x="27384" y="199718"/>
                    </a:lnTo>
                    <a:lnTo>
                      <a:pt x="113542" y="113542"/>
                    </a:lnTo>
                    <a:cubicBezTo>
                      <a:pt x="116111" y="110971"/>
                      <a:pt x="119596" y="109527"/>
                      <a:pt x="123230" y="109527"/>
                    </a:cubicBezTo>
                    <a:cubicBezTo>
                      <a:pt x="126864" y="109527"/>
                      <a:pt x="130349" y="110971"/>
                      <a:pt x="132917" y="113542"/>
                    </a:cubicBezTo>
                    <a:lnTo>
                      <a:pt x="177998" y="158641"/>
                    </a:lnTo>
                    <a:lnTo>
                      <a:pt x="268179" y="68461"/>
                    </a:lnTo>
                    <a:lnTo>
                      <a:pt x="232767" y="68461"/>
                    </a:lnTo>
                    <a:cubicBezTo>
                      <a:pt x="225205" y="68461"/>
                      <a:pt x="219075" y="62331"/>
                      <a:pt x="219075" y="54769"/>
                    </a:cubicBezTo>
                    <a:cubicBezTo>
                      <a:pt x="219075" y="47207"/>
                      <a:pt x="225205" y="41077"/>
                      <a:pt x="232767" y="41077"/>
                    </a:cubicBezTo>
                    <a:lnTo>
                      <a:pt x="301228" y="41077"/>
                    </a:lnTo>
                    <a:cubicBezTo>
                      <a:pt x="308790" y="41077"/>
                      <a:pt x="314920" y="47207"/>
                      <a:pt x="314920" y="54769"/>
                    </a:cubicBezTo>
                    <a:lnTo>
                      <a:pt x="314920" y="123230"/>
                    </a:lnTo>
                    <a:cubicBezTo>
                      <a:pt x="314920" y="130792"/>
                      <a:pt x="308790" y="136922"/>
                      <a:pt x="301228" y="136922"/>
                    </a:cubicBezTo>
                    <a:cubicBezTo>
                      <a:pt x="293666" y="136922"/>
                      <a:pt x="287536" y="130792"/>
                      <a:pt x="287536" y="123230"/>
                    </a:cubicBezTo>
                    <a:lnTo>
                      <a:pt x="287536" y="87818"/>
                    </a:lnTo>
                    <a:lnTo>
                      <a:pt x="187686" y="187686"/>
                    </a:lnTo>
                    <a:cubicBezTo>
                      <a:pt x="185117" y="190257"/>
                      <a:pt x="181632" y="191701"/>
                      <a:pt x="177998" y="191701"/>
                    </a:cubicBezTo>
                    <a:cubicBezTo>
                      <a:pt x="174364" y="191701"/>
                      <a:pt x="170879" y="190257"/>
                      <a:pt x="168311" y="187686"/>
                    </a:cubicBezTo>
                    <a:lnTo>
                      <a:pt x="123230" y="142587"/>
                    </a:lnTo>
                    <a:lnTo>
                      <a:pt x="27384" y="238432"/>
                    </a:lnTo>
                    <a:lnTo>
                      <a:pt x="27384" y="273844"/>
                    </a:lnTo>
                    <a:lnTo>
                      <a:pt x="342305" y="273844"/>
                    </a:lnTo>
                    <a:cubicBezTo>
                      <a:pt x="349867" y="273844"/>
                      <a:pt x="355997" y="279974"/>
                      <a:pt x="355997" y="28753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463088" y="1940719"/>
              <a:ext cx="177284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成本曲线变陡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58250" y="2466975"/>
              <a:ext cx="32694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token、工具调用和等待时间叠加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0" y="3238500"/>
            <a:ext cx="3352800" cy="1257300"/>
            <a:chOff x="5334000" y="3238500"/>
            <a:chExt cx="3352800" cy="1257300"/>
          </a:xfrm>
        </p:grpSpPr>
        <p:sp>
          <p:nvSpPr>
            <p:cNvPr id="32" name="Freeform 32"/>
            <p:cNvSpPr/>
            <p:nvPr/>
          </p:nvSpPr>
          <p:spPr>
            <a:xfrm>
              <a:off x="5334000" y="323850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655469" y="3573661"/>
              <a:ext cx="328612" cy="342771"/>
              <a:chOff x="5655469" y="3573661"/>
              <a:chExt cx="328612" cy="34277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669161" y="3587353"/>
                <a:ext cx="301228" cy="315126"/>
              </a:xfrm>
              <a:custGeom>
                <a:avLst/>
                <a:gdLst/>
                <a:ahLst/>
                <a:cxnLst/>
                <a:rect l="l" t="t" r="r" b="b"/>
                <a:pathLst>
                  <a:path w="301228" h="315126">
                    <a:moveTo>
                      <a:pt x="301228" y="13692"/>
                    </a:moveTo>
                    <a:lnTo>
                      <a:pt x="301228" y="114278"/>
                    </a:lnTo>
                    <a:cubicBezTo>
                      <a:pt x="301228" y="258354"/>
                      <a:pt x="179179" y="306089"/>
                      <a:pt x="154824" y="314184"/>
                    </a:cubicBezTo>
                    <a:cubicBezTo>
                      <a:pt x="152096" y="315126"/>
                      <a:pt x="149132" y="315126"/>
                      <a:pt x="146404" y="314184"/>
                    </a:cubicBezTo>
                    <a:cubicBezTo>
                      <a:pt x="122049" y="306123"/>
                      <a:pt x="0" y="258440"/>
                      <a:pt x="0" y="114313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lnTo>
                      <a:pt x="287536" y="0"/>
                    </a:lnTo>
                    <a:cubicBezTo>
                      <a:pt x="295098" y="0"/>
                      <a:pt x="301228" y="6130"/>
                      <a:pt x="301228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655469" y="3573661"/>
                <a:ext cx="328612" cy="342771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342771">
                    <a:moveTo>
                      <a:pt x="301228" y="0"/>
                    </a:moveTo>
                    <a:lnTo>
                      <a:pt x="27384" y="0"/>
                    </a:lnTo>
                    <a:cubicBezTo>
                      <a:pt x="12260" y="0"/>
                      <a:pt x="0" y="12260"/>
                      <a:pt x="0" y="27384"/>
                    </a:cubicBezTo>
                    <a:lnTo>
                      <a:pt x="0" y="127988"/>
                    </a:lnTo>
                    <a:cubicBezTo>
                      <a:pt x="0" y="281357"/>
                      <a:pt x="129768" y="332241"/>
                      <a:pt x="155749" y="340884"/>
                    </a:cubicBezTo>
                    <a:cubicBezTo>
                      <a:pt x="161298" y="342771"/>
                      <a:pt x="167315" y="342771"/>
                      <a:pt x="172864" y="340884"/>
                    </a:cubicBezTo>
                    <a:cubicBezTo>
                      <a:pt x="198879" y="332241"/>
                      <a:pt x="328612" y="281357"/>
                      <a:pt x="328612" y="127988"/>
                    </a:cubicBezTo>
                    <a:lnTo>
                      <a:pt x="328612" y="27384"/>
                    </a:lnTo>
                    <a:cubicBezTo>
                      <a:pt x="328612" y="12260"/>
                      <a:pt x="316352" y="0"/>
                      <a:pt x="301228" y="0"/>
                    </a:cubicBezTo>
                    <a:close/>
                    <a:moveTo>
                      <a:pt x="301228" y="128005"/>
                    </a:moveTo>
                    <a:cubicBezTo>
                      <a:pt x="301228" y="262223"/>
                      <a:pt x="187669" y="307064"/>
                      <a:pt x="164306" y="314869"/>
                    </a:cubicBezTo>
                    <a:cubicBezTo>
                      <a:pt x="141149" y="307150"/>
                      <a:pt x="27384" y="262342"/>
                      <a:pt x="27384" y="128005"/>
                    </a:cubicBezTo>
                    <a:lnTo>
                      <a:pt x="27384" y="27384"/>
                    </a:lnTo>
                    <a:lnTo>
                      <a:pt x="301228" y="27384"/>
                    </a:lnTo>
                    <a:close/>
                    <a:moveTo>
                      <a:pt x="86158" y="173993"/>
                    </a:moveTo>
                    <a:cubicBezTo>
                      <a:pt x="80808" y="168643"/>
                      <a:pt x="80808" y="159969"/>
                      <a:pt x="86158" y="154619"/>
                    </a:cubicBezTo>
                    <a:cubicBezTo>
                      <a:pt x="91508" y="149269"/>
                      <a:pt x="100182" y="149269"/>
                      <a:pt x="105533" y="154619"/>
                    </a:cubicBezTo>
                    <a:lnTo>
                      <a:pt x="136922" y="186008"/>
                    </a:lnTo>
                    <a:lnTo>
                      <a:pt x="223080" y="99850"/>
                    </a:lnTo>
                    <a:cubicBezTo>
                      <a:pt x="228430" y="94500"/>
                      <a:pt x="237104" y="94500"/>
                      <a:pt x="242454" y="99850"/>
                    </a:cubicBezTo>
                    <a:cubicBezTo>
                      <a:pt x="247805" y="105200"/>
                      <a:pt x="247805" y="113875"/>
                      <a:pt x="242454" y="119225"/>
                    </a:cubicBezTo>
                    <a:lnTo>
                      <a:pt x="146609" y="215070"/>
                    </a:lnTo>
                    <a:cubicBezTo>
                      <a:pt x="144041" y="217641"/>
                      <a:pt x="140556" y="219086"/>
                      <a:pt x="136922" y="219086"/>
                    </a:cubicBezTo>
                    <a:cubicBezTo>
                      <a:pt x="133288" y="219086"/>
                      <a:pt x="129803" y="217641"/>
                      <a:pt x="127235" y="21507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186488" y="3559969"/>
              <a:ext cx="177284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风险边界扩大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81650" y="408622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越权调用、级联幻觉、数据泄露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610600" y="3238500"/>
            <a:ext cx="3571875" cy="1257300"/>
            <a:chOff x="8610600" y="3238500"/>
            <a:chExt cx="3571875" cy="1257300"/>
          </a:xfrm>
        </p:grpSpPr>
        <p:sp>
          <p:nvSpPr>
            <p:cNvPr id="39" name="Freeform 39"/>
            <p:cNvSpPr/>
            <p:nvPr/>
          </p:nvSpPr>
          <p:spPr>
            <a:xfrm>
              <a:off x="8610600" y="323850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890979" y="3539396"/>
              <a:ext cx="410778" cy="356067"/>
              <a:chOff x="8890979" y="3539396"/>
              <a:chExt cx="410778" cy="35606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904611" y="3559969"/>
                <a:ext cx="383466" cy="314920"/>
              </a:xfrm>
              <a:custGeom>
                <a:avLst/>
                <a:gdLst/>
                <a:ahLst/>
                <a:cxnLst/>
                <a:rect l="l" t="t" r="r" b="b"/>
                <a:pathLst>
                  <a:path w="383466" h="314920">
                    <a:moveTo>
                      <a:pt x="383455" y="157460"/>
                    </a:moveTo>
                    <a:cubicBezTo>
                      <a:pt x="383466" y="192285"/>
                      <a:pt x="361519" y="223333"/>
                      <a:pt x="328686" y="234941"/>
                    </a:cubicBezTo>
                    <a:lnTo>
                      <a:pt x="328686" y="234941"/>
                    </a:lnTo>
                    <a:lnTo>
                      <a:pt x="328686" y="246459"/>
                    </a:lnTo>
                    <a:cubicBezTo>
                      <a:pt x="328686" y="284269"/>
                      <a:pt x="298035" y="314920"/>
                      <a:pt x="260225" y="314920"/>
                    </a:cubicBezTo>
                    <a:cubicBezTo>
                      <a:pt x="222415" y="314920"/>
                      <a:pt x="191764" y="284269"/>
                      <a:pt x="191764" y="246459"/>
                    </a:cubicBezTo>
                    <a:cubicBezTo>
                      <a:pt x="191764" y="284269"/>
                      <a:pt x="161113" y="314920"/>
                      <a:pt x="123303" y="314920"/>
                    </a:cubicBezTo>
                    <a:cubicBezTo>
                      <a:pt x="85493" y="314920"/>
                      <a:pt x="54842" y="284269"/>
                      <a:pt x="54842" y="246459"/>
                    </a:cubicBezTo>
                    <a:lnTo>
                      <a:pt x="54842" y="234941"/>
                    </a:lnTo>
                    <a:lnTo>
                      <a:pt x="54842" y="234941"/>
                    </a:lnTo>
                    <a:cubicBezTo>
                      <a:pt x="21980" y="223357"/>
                      <a:pt x="0" y="192304"/>
                      <a:pt x="0" y="157460"/>
                    </a:cubicBezTo>
                    <a:cubicBezTo>
                      <a:pt x="0" y="122616"/>
                      <a:pt x="21980" y="91563"/>
                      <a:pt x="54842" y="79979"/>
                    </a:cubicBezTo>
                    <a:lnTo>
                      <a:pt x="54842" y="68461"/>
                    </a:lnTo>
                    <a:cubicBezTo>
                      <a:pt x="54842" y="30651"/>
                      <a:pt x="85493" y="0"/>
                      <a:pt x="123303" y="0"/>
                    </a:cubicBezTo>
                    <a:cubicBezTo>
                      <a:pt x="161113" y="0"/>
                      <a:pt x="191764" y="30651"/>
                      <a:pt x="191764" y="68461"/>
                    </a:cubicBezTo>
                    <a:cubicBezTo>
                      <a:pt x="191764" y="30651"/>
                      <a:pt x="222415" y="0"/>
                      <a:pt x="260225" y="0"/>
                    </a:cubicBezTo>
                    <a:cubicBezTo>
                      <a:pt x="298035" y="0"/>
                      <a:pt x="328686" y="30651"/>
                      <a:pt x="328686" y="68461"/>
                    </a:cubicBezTo>
                    <a:lnTo>
                      <a:pt x="328686" y="79979"/>
                    </a:lnTo>
                    <a:cubicBezTo>
                      <a:pt x="361519" y="91588"/>
                      <a:pt x="383466" y="122636"/>
                      <a:pt x="383455" y="15746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890979" y="3539396"/>
                <a:ext cx="410778" cy="356067"/>
              </a:xfrm>
              <a:custGeom>
                <a:avLst/>
                <a:gdLst/>
                <a:ahLst/>
                <a:cxnLst/>
                <a:rect l="l" t="t" r="r" b="b"/>
                <a:pathLst>
                  <a:path w="410778" h="356067">
                    <a:moveTo>
                      <a:pt x="410778" y="178033"/>
                    </a:moveTo>
                    <a:cubicBezTo>
                      <a:pt x="410742" y="141018"/>
                      <a:pt x="389434" y="107318"/>
                      <a:pt x="356010" y="91413"/>
                    </a:cubicBezTo>
                    <a:lnTo>
                      <a:pt x="356010" y="89034"/>
                    </a:lnTo>
                    <a:cubicBezTo>
                      <a:pt x="355977" y="52810"/>
                      <a:pt x="332223" y="20883"/>
                      <a:pt x="297537" y="10441"/>
                    </a:cubicBezTo>
                    <a:cubicBezTo>
                      <a:pt x="262851" y="0"/>
                      <a:pt x="225419" y="13509"/>
                      <a:pt x="205396" y="43696"/>
                    </a:cubicBezTo>
                    <a:cubicBezTo>
                      <a:pt x="185372" y="13509"/>
                      <a:pt x="147941" y="0"/>
                      <a:pt x="113254" y="10441"/>
                    </a:cubicBezTo>
                    <a:cubicBezTo>
                      <a:pt x="78568" y="20883"/>
                      <a:pt x="54814" y="52810"/>
                      <a:pt x="54782" y="89034"/>
                    </a:cubicBezTo>
                    <a:lnTo>
                      <a:pt x="54782" y="91413"/>
                    </a:lnTo>
                    <a:cubicBezTo>
                      <a:pt x="21326" y="107276"/>
                      <a:pt x="0" y="140990"/>
                      <a:pt x="0" y="178016"/>
                    </a:cubicBezTo>
                    <a:cubicBezTo>
                      <a:pt x="0" y="215042"/>
                      <a:pt x="21326" y="248756"/>
                      <a:pt x="54782" y="264619"/>
                    </a:cubicBezTo>
                    <a:lnTo>
                      <a:pt x="54782" y="267033"/>
                    </a:lnTo>
                    <a:cubicBezTo>
                      <a:pt x="54814" y="303256"/>
                      <a:pt x="78568" y="335184"/>
                      <a:pt x="113254" y="345625"/>
                    </a:cubicBezTo>
                    <a:cubicBezTo>
                      <a:pt x="147941" y="356067"/>
                      <a:pt x="185372" y="342557"/>
                      <a:pt x="205396" y="312371"/>
                    </a:cubicBezTo>
                    <a:cubicBezTo>
                      <a:pt x="225419" y="342557"/>
                      <a:pt x="262851" y="356067"/>
                      <a:pt x="297537" y="345625"/>
                    </a:cubicBezTo>
                    <a:cubicBezTo>
                      <a:pt x="332223" y="335184"/>
                      <a:pt x="355977" y="303256"/>
                      <a:pt x="356010" y="267033"/>
                    </a:cubicBezTo>
                    <a:lnTo>
                      <a:pt x="356010" y="264619"/>
                    </a:lnTo>
                    <a:cubicBezTo>
                      <a:pt x="389429" y="248726"/>
                      <a:pt x="410737" y="215039"/>
                      <a:pt x="410778" y="178033"/>
                    </a:cubicBezTo>
                    <a:close/>
                    <a:moveTo>
                      <a:pt x="136935" y="321801"/>
                    </a:moveTo>
                    <a:cubicBezTo>
                      <a:pt x="108969" y="321797"/>
                      <a:pt x="85498" y="300724"/>
                      <a:pt x="82491" y="272920"/>
                    </a:cubicBezTo>
                    <a:cubicBezTo>
                      <a:pt x="86919" y="273552"/>
                      <a:pt x="91386" y="273872"/>
                      <a:pt x="95858" y="273879"/>
                    </a:cubicBezTo>
                    <a:lnTo>
                      <a:pt x="109550" y="273879"/>
                    </a:lnTo>
                    <a:cubicBezTo>
                      <a:pt x="117112" y="273879"/>
                      <a:pt x="123243" y="267748"/>
                      <a:pt x="123243" y="260186"/>
                    </a:cubicBezTo>
                    <a:cubicBezTo>
                      <a:pt x="123243" y="252624"/>
                      <a:pt x="117112" y="246494"/>
                      <a:pt x="109550" y="246494"/>
                    </a:cubicBezTo>
                    <a:lnTo>
                      <a:pt x="95858" y="246494"/>
                    </a:lnTo>
                    <a:cubicBezTo>
                      <a:pt x="62483" y="246533"/>
                      <a:pt x="33943" y="222500"/>
                      <a:pt x="28302" y="189605"/>
                    </a:cubicBezTo>
                    <a:cubicBezTo>
                      <a:pt x="22661" y="156710"/>
                      <a:pt x="41562" y="124541"/>
                      <a:pt x="73044" y="113458"/>
                    </a:cubicBezTo>
                    <a:cubicBezTo>
                      <a:pt x="78510" y="111522"/>
                      <a:pt x="82165" y="106352"/>
                      <a:pt x="82166" y="100553"/>
                    </a:cubicBezTo>
                    <a:lnTo>
                      <a:pt x="82166" y="89034"/>
                    </a:lnTo>
                    <a:cubicBezTo>
                      <a:pt x="82166" y="58786"/>
                      <a:pt x="106687" y="34265"/>
                      <a:pt x="136935" y="34265"/>
                    </a:cubicBezTo>
                    <a:cubicBezTo>
                      <a:pt x="167183" y="34265"/>
                      <a:pt x="191703" y="58786"/>
                      <a:pt x="191703" y="89034"/>
                    </a:cubicBezTo>
                    <a:lnTo>
                      <a:pt x="191703" y="205863"/>
                    </a:lnTo>
                    <a:cubicBezTo>
                      <a:pt x="176668" y="192340"/>
                      <a:pt x="157157" y="184865"/>
                      <a:pt x="136935" y="184879"/>
                    </a:cubicBezTo>
                    <a:cubicBezTo>
                      <a:pt x="129373" y="184879"/>
                      <a:pt x="123243" y="191010"/>
                      <a:pt x="123243" y="198572"/>
                    </a:cubicBezTo>
                    <a:cubicBezTo>
                      <a:pt x="123243" y="206134"/>
                      <a:pt x="129373" y="212264"/>
                      <a:pt x="136935" y="212264"/>
                    </a:cubicBezTo>
                    <a:cubicBezTo>
                      <a:pt x="167183" y="212264"/>
                      <a:pt x="191703" y="236785"/>
                      <a:pt x="191703" y="267033"/>
                    </a:cubicBezTo>
                    <a:cubicBezTo>
                      <a:pt x="191703" y="297280"/>
                      <a:pt x="167183" y="321801"/>
                      <a:pt x="136935" y="321801"/>
                    </a:cubicBezTo>
                    <a:close/>
                    <a:moveTo>
                      <a:pt x="314933" y="246494"/>
                    </a:moveTo>
                    <a:lnTo>
                      <a:pt x="301241" y="246494"/>
                    </a:lnTo>
                    <a:cubicBezTo>
                      <a:pt x="293679" y="246494"/>
                      <a:pt x="287549" y="252624"/>
                      <a:pt x="287549" y="260186"/>
                    </a:cubicBezTo>
                    <a:cubicBezTo>
                      <a:pt x="287549" y="267748"/>
                      <a:pt x="293679" y="273879"/>
                      <a:pt x="301241" y="273879"/>
                    </a:cubicBezTo>
                    <a:lnTo>
                      <a:pt x="314933" y="273879"/>
                    </a:lnTo>
                    <a:cubicBezTo>
                      <a:pt x="319406" y="273872"/>
                      <a:pt x="323872" y="273552"/>
                      <a:pt x="328300" y="272920"/>
                    </a:cubicBezTo>
                    <a:cubicBezTo>
                      <a:pt x="325131" y="302233"/>
                      <a:pt x="299325" y="323777"/>
                      <a:pt x="269917" y="321660"/>
                    </a:cubicBezTo>
                    <a:cubicBezTo>
                      <a:pt x="240509" y="319543"/>
                      <a:pt x="218054" y="294526"/>
                      <a:pt x="219116" y="265061"/>
                    </a:cubicBezTo>
                    <a:cubicBezTo>
                      <a:pt x="220177" y="235597"/>
                      <a:pt x="244373" y="212260"/>
                      <a:pt x="273857" y="212264"/>
                    </a:cubicBezTo>
                    <a:cubicBezTo>
                      <a:pt x="281419" y="212264"/>
                      <a:pt x="287549" y="206134"/>
                      <a:pt x="287549" y="198572"/>
                    </a:cubicBezTo>
                    <a:cubicBezTo>
                      <a:pt x="287549" y="191010"/>
                      <a:pt x="281419" y="184879"/>
                      <a:pt x="273857" y="184879"/>
                    </a:cubicBezTo>
                    <a:cubicBezTo>
                      <a:pt x="253634" y="184865"/>
                      <a:pt x="234123" y="192340"/>
                      <a:pt x="219088" y="205863"/>
                    </a:cubicBezTo>
                    <a:lnTo>
                      <a:pt x="219088" y="89034"/>
                    </a:lnTo>
                    <a:cubicBezTo>
                      <a:pt x="219088" y="58786"/>
                      <a:pt x="243609" y="34265"/>
                      <a:pt x="273857" y="34265"/>
                    </a:cubicBezTo>
                    <a:cubicBezTo>
                      <a:pt x="304105" y="34265"/>
                      <a:pt x="328625" y="58786"/>
                      <a:pt x="328625" y="89034"/>
                    </a:cubicBezTo>
                    <a:lnTo>
                      <a:pt x="328625" y="100553"/>
                    </a:lnTo>
                    <a:cubicBezTo>
                      <a:pt x="328626" y="106352"/>
                      <a:pt x="332281" y="111522"/>
                      <a:pt x="337748" y="113458"/>
                    </a:cubicBezTo>
                    <a:cubicBezTo>
                      <a:pt x="369229" y="124541"/>
                      <a:pt x="388130" y="156710"/>
                      <a:pt x="382489" y="189605"/>
                    </a:cubicBezTo>
                    <a:cubicBezTo>
                      <a:pt x="376848" y="222500"/>
                      <a:pt x="348308" y="246533"/>
                      <a:pt x="314933" y="246494"/>
                    </a:cubicBezTo>
                    <a:close/>
                    <a:moveTo>
                      <a:pt x="342318" y="157495"/>
                    </a:moveTo>
                    <a:cubicBezTo>
                      <a:pt x="342318" y="165057"/>
                      <a:pt x="336187" y="171187"/>
                      <a:pt x="328625" y="171187"/>
                    </a:cubicBezTo>
                    <a:lnTo>
                      <a:pt x="321779" y="171187"/>
                    </a:lnTo>
                    <a:cubicBezTo>
                      <a:pt x="287750" y="171187"/>
                      <a:pt x="260164" y="143601"/>
                      <a:pt x="260164" y="109572"/>
                    </a:cubicBezTo>
                    <a:lnTo>
                      <a:pt x="260164" y="102726"/>
                    </a:lnTo>
                    <a:cubicBezTo>
                      <a:pt x="260164" y="95164"/>
                      <a:pt x="266295" y="89034"/>
                      <a:pt x="273857" y="89034"/>
                    </a:cubicBezTo>
                    <a:cubicBezTo>
                      <a:pt x="281419" y="89034"/>
                      <a:pt x="287549" y="95164"/>
                      <a:pt x="287549" y="102726"/>
                    </a:cubicBezTo>
                    <a:lnTo>
                      <a:pt x="287549" y="109572"/>
                    </a:lnTo>
                    <a:cubicBezTo>
                      <a:pt x="287549" y="128477"/>
                      <a:pt x="302874" y="143803"/>
                      <a:pt x="321779" y="143803"/>
                    </a:cubicBezTo>
                    <a:lnTo>
                      <a:pt x="328625" y="143803"/>
                    </a:lnTo>
                    <a:cubicBezTo>
                      <a:pt x="336187" y="143803"/>
                      <a:pt x="342318" y="149933"/>
                      <a:pt x="342318" y="157495"/>
                    </a:cubicBezTo>
                    <a:close/>
                    <a:moveTo>
                      <a:pt x="89012" y="171187"/>
                    </a:moveTo>
                    <a:lnTo>
                      <a:pt x="82166" y="171187"/>
                    </a:lnTo>
                    <a:cubicBezTo>
                      <a:pt x="74604" y="171187"/>
                      <a:pt x="68474" y="165057"/>
                      <a:pt x="68474" y="157495"/>
                    </a:cubicBezTo>
                    <a:cubicBezTo>
                      <a:pt x="68474" y="149933"/>
                      <a:pt x="74604" y="143803"/>
                      <a:pt x="82166" y="143803"/>
                    </a:cubicBezTo>
                    <a:lnTo>
                      <a:pt x="89012" y="143803"/>
                    </a:lnTo>
                    <a:cubicBezTo>
                      <a:pt x="107917" y="143803"/>
                      <a:pt x="123243" y="128477"/>
                      <a:pt x="123243" y="109572"/>
                    </a:cubicBezTo>
                    <a:lnTo>
                      <a:pt x="123243" y="102726"/>
                    </a:lnTo>
                    <a:cubicBezTo>
                      <a:pt x="123243" y="95164"/>
                      <a:pt x="129373" y="89034"/>
                      <a:pt x="136935" y="89034"/>
                    </a:cubicBezTo>
                    <a:cubicBezTo>
                      <a:pt x="144497" y="89034"/>
                      <a:pt x="150627" y="95164"/>
                      <a:pt x="150627" y="102726"/>
                    </a:cubicBezTo>
                    <a:lnTo>
                      <a:pt x="150627" y="109572"/>
                    </a:lnTo>
                    <a:cubicBezTo>
                      <a:pt x="150627" y="143601"/>
                      <a:pt x="123041" y="171187"/>
                      <a:pt x="89012" y="171187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463088" y="3559969"/>
              <a:ext cx="177284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需要分层用模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58250" y="408622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小模型常规执行，大模型仲裁升级</a:t>
              </a:r>
            </a:p>
          </p:txBody>
        </p:sp>
      </p:grpSp>
      <p:sp>
        <p:nvSpPr>
          <p:cNvPr id="46" name="Freeform 46"/>
          <p:cNvSpPr/>
          <p:nvPr/>
        </p:nvSpPr>
        <p:spPr>
          <a:xfrm>
            <a:off x="5334000" y="4857750"/>
            <a:ext cx="6191250" cy="857250"/>
          </a:xfrm>
          <a:custGeom>
            <a:avLst/>
            <a:gdLst/>
            <a:ahLst/>
            <a:cxnLst/>
            <a:rect l="l" t="t" r="r" b="b"/>
            <a:pathLst>
              <a:path w="6191250" h="857250">
                <a:moveTo>
                  <a:pt x="171450" y="0"/>
                </a:moveTo>
                <a:lnTo>
                  <a:pt x="6019800" y="0"/>
                </a:lnTo>
                <a:cubicBezTo>
                  <a:pt x="6114489" y="0"/>
                  <a:pt x="6191250" y="76761"/>
                  <a:pt x="6191250" y="171450"/>
                </a:cubicBezTo>
                <a:lnTo>
                  <a:pt x="6191250" y="685800"/>
                </a:lnTo>
                <a:cubicBezTo>
                  <a:pt x="6191250" y="780489"/>
                  <a:pt x="6114489" y="857250"/>
                  <a:pt x="6019800" y="857250"/>
                </a:cubicBezTo>
                <a:lnTo>
                  <a:pt x="171450" y="857250"/>
                </a:lnTo>
                <a:cubicBezTo>
                  <a:pt x="76761" y="857250"/>
                  <a:pt x="0" y="780489"/>
                  <a:pt x="0" y="685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0" y="5057775"/>
            <a:ext cx="19358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 PPT 的核心命题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0700" y="5362575"/>
            <a:ext cx="58326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中小型大模型是 MAS 的基础执行层，而非超大模型替代品。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21970" y="6398895"/>
            <a:ext cx="40976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Source paper synthesized by user; PPT Master analysis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 / 10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78857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多智能体系统不是多个聊天框，而是复合系统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8763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42900"/>
                </a:lnTo>
                <a:cubicBezTo>
                  <a:pt x="11125200" y="406026"/>
                  <a:pt x="11074026" y="457200"/>
                  <a:pt x="110109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009650"/>
            <a:ext cx="721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中小型大模型的价值，要放在“角色—能力—编排—治理”的分层结构中理解。</a:t>
            </a:r>
          </a:p>
        </p:txBody>
      </p:sp>
      <p:sp>
        <p:nvSpPr>
          <p:cNvPr id="6" name="Freeform 6"/>
          <p:cNvSpPr/>
          <p:nvPr/>
        </p:nvSpPr>
        <p:spPr>
          <a:xfrm>
            <a:off x="1428750" y="16573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747838" y="1932384"/>
            <a:ext cx="314325" cy="327868"/>
            <a:chOff x="1747838" y="1932384"/>
            <a:chExt cx="314325" cy="327868"/>
          </a:xfrm>
        </p:grpSpPr>
        <p:sp>
          <p:nvSpPr>
            <p:cNvPr id="7" name="Freeform 7"/>
            <p:cNvSpPr/>
            <p:nvPr/>
          </p:nvSpPr>
          <p:spPr>
            <a:xfrm>
              <a:off x="1760934" y="1945481"/>
              <a:ext cx="288131" cy="301425"/>
            </a:xfrm>
            <a:custGeom>
              <a:avLst/>
              <a:gdLst/>
              <a:ahLst/>
              <a:cxnLst/>
              <a:rect l="l" t="t" r="r" b="b"/>
              <a:pathLst>
                <a:path w="288131" h="301425">
                  <a:moveTo>
                    <a:pt x="288131" y="13097"/>
                  </a:moveTo>
                  <a:lnTo>
                    <a:pt x="288131" y="109310"/>
                  </a:lnTo>
                  <a:cubicBezTo>
                    <a:pt x="288131" y="247122"/>
                    <a:pt x="171389" y="292781"/>
                    <a:pt x="148093" y="300524"/>
                  </a:cubicBezTo>
                  <a:cubicBezTo>
                    <a:pt x="145484" y="301425"/>
                    <a:pt x="142648" y="301425"/>
                    <a:pt x="140038" y="300524"/>
                  </a:cubicBezTo>
                  <a:cubicBezTo>
                    <a:pt x="116742" y="292813"/>
                    <a:pt x="0" y="247204"/>
                    <a:pt x="0" y="109343"/>
                  </a:cubicBezTo>
                  <a:lnTo>
                    <a:pt x="0" y="13097"/>
                  </a:lnTo>
                  <a:cubicBezTo>
                    <a:pt x="0" y="5864"/>
                    <a:pt x="5864" y="0"/>
                    <a:pt x="13097" y="0"/>
                  </a:cubicBezTo>
                  <a:lnTo>
                    <a:pt x="275034" y="0"/>
                  </a:lnTo>
                  <a:cubicBezTo>
                    <a:pt x="282268" y="0"/>
                    <a:pt x="288131" y="5864"/>
                    <a:pt x="288131" y="13097"/>
                  </a:cubicBez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747838" y="1932384"/>
              <a:ext cx="314325" cy="327868"/>
            </a:xfrm>
            <a:custGeom>
              <a:avLst/>
              <a:gdLst/>
              <a:ahLst/>
              <a:cxnLst/>
              <a:rect l="l" t="t" r="r" b="b"/>
              <a:pathLst>
                <a:path w="314325" h="327868">
                  <a:moveTo>
                    <a:pt x="288131" y="0"/>
                  </a:moveTo>
                  <a:lnTo>
                    <a:pt x="26194" y="0"/>
                  </a:lnTo>
                  <a:cubicBezTo>
                    <a:pt x="11727" y="0"/>
                    <a:pt x="0" y="11727"/>
                    <a:pt x="0" y="26194"/>
                  </a:cubicBezTo>
                  <a:lnTo>
                    <a:pt x="0" y="122423"/>
                  </a:lnTo>
                  <a:cubicBezTo>
                    <a:pt x="0" y="269124"/>
                    <a:pt x="124126" y="317796"/>
                    <a:pt x="148977" y="326063"/>
                  </a:cubicBezTo>
                  <a:cubicBezTo>
                    <a:pt x="154285" y="327868"/>
                    <a:pt x="160040" y="327868"/>
                    <a:pt x="165348" y="326063"/>
                  </a:cubicBezTo>
                  <a:cubicBezTo>
                    <a:pt x="190232" y="317796"/>
                    <a:pt x="314325" y="269124"/>
                    <a:pt x="314325" y="122423"/>
                  </a:cubicBezTo>
                  <a:lnTo>
                    <a:pt x="314325" y="26194"/>
                  </a:lnTo>
                  <a:cubicBezTo>
                    <a:pt x="314325" y="11727"/>
                    <a:pt x="302598" y="0"/>
                    <a:pt x="288131" y="0"/>
                  </a:cubicBezTo>
                  <a:close/>
                  <a:moveTo>
                    <a:pt x="288131" y="122439"/>
                  </a:moveTo>
                  <a:cubicBezTo>
                    <a:pt x="288131" y="250822"/>
                    <a:pt x="179509" y="293714"/>
                    <a:pt x="157162" y="301179"/>
                  </a:cubicBezTo>
                  <a:cubicBezTo>
                    <a:pt x="135012" y="293796"/>
                    <a:pt x="26194" y="250936"/>
                    <a:pt x="26194" y="122439"/>
                  </a:cubicBezTo>
                  <a:lnTo>
                    <a:pt x="26194" y="26194"/>
                  </a:lnTo>
                  <a:lnTo>
                    <a:pt x="288131" y="26194"/>
                  </a:lnTo>
                  <a:close/>
                  <a:moveTo>
                    <a:pt x="82412" y="166429"/>
                  </a:moveTo>
                  <a:cubicBezTo>
                    <a:pt x="77295" y="161311"/>
                    <a:pt x="77295" y="153014"/>
                    <a:pt x="82412" y="147896"/>
                  </a:cubicBezTo>
                  <a:cubicBezTo>
                    <a:pt x="87530" y="142779"/>
                    <a:pt x="95827" y="142779"/>
                    <a:pt x="100944" y="147896"/>
                  </a:cubicBezTo>
                  <a:lnTo>
                    <a:pt x="130969" y="177921"/>
                  </a:lnTo>
                  <a:lnTo>
                    <a:pt x="213381" y="95509"/>
                  </a:lnTo>
                  <a:cubicBezTo>
                    <a:pt x="218498" y="90391"/>
                    <a:pt x="226795" y="90391"/>
                    <a:pt x="231913" y="95509"/>
                  </a:cubicBezTo>
                  <a:cubicBezTo>
                    <a:pt x="237030" y="100626"/>
                    <a:pt x="237030" y="108924"/>
                    <a:pt x="231913" y="114041"/>
                  </a:cubicBezTo>
                  <a:lnTo>
                    <a:pt x="140235" y="205719"/>
                  </a:lnTo>
                  <a:cubicBezTo>
                    <a:pt x="137778" y="208178"/>
                    <a:pt x="134445" y="209560"/>
                    <a:pt x="130969" y="209560"/>
                  </a:cubicBezTo>
                  <a:cubicBezTo>
                    <a:pt x="127493" y="209560"/>
                    <a:pt x="124159" y="208178"/>
                    <a:pt x="121703" y="205719"/>
                  </a:cubicBez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2319338" y="17978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24100" y="212407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权限控制、日志审计、风险分级、人工复核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28750" y="27241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1708202" y="2997898"/>
            <a:ext cx="393261" cy="292266"/>
            <a:chOff x="1708202" y="2997898"/>
            <a:chExt cx="393261" cy="292266"/>
          </a:xfrm>
        </p:grpSpPr>
        <p:sp>
          <p:nvSpPr>
            <p:cNvPr id="13" name="Freeform 13"/>
            <p:cNvSpPr/>
            <p:nvPr/>
          </p:nvSpPr>
          <p:spPr>
            <a:xfrm>
              <a:off x="1721644" y="3169444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cubicBezTo>
                    <a:pt x="104775" y="81320"/>
                    <a:pt x="81320" y="104775"/>
                    <a:pt x="52388" y="104775"/>
                  </a:cubicBezTo>
                  <a:cubicBezTo>
                    <a:pt x="23455" y="104775"/>
                    <a:pt x="0" y="81320"/>
                    <a:pt x="0" y="52388"/>
                  </a:cubicBezTo>
                  <a:cubicBezTo>
                    <a:pt x="0" y="23455"/>
                    <a:pt x="23455" y="0"/>
                    <a:pt x="52388" y="0"/>
                  </a:cubicBezTo>
                  <a:cubicBezTo>
                    <a:pt x="81320" y="0"/>
                    <a:pt x="104775" y="23455"/>
                    <a:pt x="104775" y="523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708202" y="2997898"/>
              <a:ext cx="393261" cy="292266"/>
            </a:xfrm>
            <a:custGeom>
              <a:avLst/>
              <a:gdLst/>
              <a:ahLst/>
              <a:cxnLst/>
              <a:rect l="l" t="t" r="r" b="b"/>
              <a:pathLst>
                <a:path w="393261" h="292266">
                  <a:moveTo>
                    <a:pt x="389420" y="57505"/>
                  </a:moveTo>
                  <a:lnTo>
                    <a:pt x="337033" y="5117"/>
                  </a:lnTo>
                  <a:cubicBezTo>
                    <a:pt x="331915" y="0"/>
                    <a:pt x="323618" y="0"/>
                    <a:pt x="318501" y="5117"/>
                  </a:cubicBezTo>
                  <a:cubicBezTo>
                    <a:pt x="313383" y="10235"/>
                    <a:pt x="313383" y="18532"/>
                    <a:pt x="318501" y="23650"/>
                  </a:cubicBezTo>
                  <a:lnTo>
                    <a:pt x="348542" y="53674"/>
                  </a:lnTo>
                  <a:lnTo>
                    <a:pt x="301573" y="53674"/>
                  </a:lnTo>
                  <a:cubicBezTo>
                    <a:pt x="285528" y="54256"/>
                    <a:pt x="269756" y="58000"/>
                    <a:pt x="255161" y="64692"/>
                  </a:cubicBezTo>
                  <a:cubicBezTo>
                    <a:pt x="232864" y="74989"/>
                    <a:pt x="204689" y="96959"/>
                    <a:pt x="196978" y="143273"/>
                  </a:cubicBezTo>
                  <a:cubicBezTo>
                    <a:pt x="188269" y="195546"/>
                    <a:pt x="149338" y="207481"/>
                    <a:pt x="129857" y="210165"/>
                  </a:cubicBezTo>
                  <a:cubicBezTo>
                    <a:pt x="122741" y="177320"/>
                    <a:pt x="91916" y="155193"/>
                    <a:pt x="58520" y="158958"/>
                  </a:cubicBezTo>
                  <a:cubicBezTo>
                    <a:pt x="25124" y="162724"/>
                    <a:pt x="0" y="191159"/>
                    <a:pt x="377" y="224764"/>
                  </a:cubicBezTo>
                  <a:cubicBezTo>
                    <a:pt x="753" y="258370"/>
                    <a:pt x="26508" y="286235"/>
                    <a:pt x="59980" y="289251"/>
                  </a:cubicBezTo>
                  <a:cubicBezTo>
                    <a:pt x="93452" y="292266"/>
                    <a:pt x="123774" y="269454"/>
                    <a:pt x="130151" y="236457"/>
                  </a:cubicBezTo>
                  <a:cubicBezTo>
                    <a:pt x="141926" y="235115"/>
                    <a:pt x="153429" y="231997"/>
                    <a:pt x="164269" y="227208"/>
                  </a:cubicBezTo>
                  <a:cubicBezTo>
                    <a:pt x="186566" y="217385"/>
                    <a:pt x="214806" y="195448"/>
                    <a:pt x="222812" y="147497"/>
                  </a:cubicBezTo>
                  <a:cubicBezTo>
                    <a:pt x="233879" y="81128"/>
                    <a:pt x="298855" y="79868"/>
                    <a:pt x="301573" y="79868"/>
                  </a:cubicBezTo>
                  <a:lnTo>
                    <a:pt x="348542" y="79868"/>
                  </a:lnTo>
                  <a:lnTo>
                    <a:pt x="318501" y="109892"/>
                  </a:lnTo>
                  <a:cubicBezTo>
                    <a:pt x="313383" y="115010"/>
                    <a:pt x="313383" y="123307"/>
                    <a:pt x="318501" y="128425"/>
                  </a:cubicBezTo>
                  <a:cubicBezTo>
                    <a:pt x="323618" y="133542"/>
                    <a:pt x="331915" y="133542"/>
                    <a:pt x="337033" y="128425"/>
                  </a:cubicBezTo>
                  <a:lnTo>
                    <a:pt x="389420" y="76037"/>
                  </a:lnTo>
                  <a:cubicBezTo>
                    <a:pt x="391880" y="73581"/>
                    <a:pt x="393261" y="70247"/>
                    <a:pt x="393261" y="66771"/>
                  </a:cubicBezTo>
                  <a:cubicBezTo>
                    <a:pt x="393261" y="63295"/>
                    <a:pt x="391880" y="59962"/>
                    <a:pt x="389420" y="57505"/>
                  </a:cubicBezTo>
                  <a:close/>
                  <a:moveTo>
                    <a:pt x="65829" y="263224"/>
                  </a:moveTo>
                  <a:cubicBezTo>
                    <a:pt x="44130" y="263224"/>
                    <a:pt x="26539" y="245633"/>
                    <a:pt x="26539" y="223934"/>
                  </a:cubicBezTo>
                  <a:cubicBezTo>
                    <a:pt x="26539" y="202234"/>
                    <a:pt x="44130" y="184643"/>
                    <a:pt x="65829" y="184643"/>
                  </a:cubicBezTo>
                  <a:cubicBezTo>
                    <a:pt x="87529" y="184643"/>
                    <a:pt x="105120" y="202234"/>
                    <a:pt x="105120" y="223934"/>
                  </a:cubicBezTo>
                  <a:cubicBezTo>
                    <a:pt x="105120" y="245633"/>
                    <a:pt x="87529" y="263224"/>
                    <a:pt x="65829" y="26322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319338" y="28646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编排层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4100" y="3190875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任务分解、状态管理、工具调用、失败恢复、模型升级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28750" y="37909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1747838" y="4039791"/>
            <a:ext cx="314325" cy="340519"/>
            <a:chOff x="1747838" y="4039791"/>
            <a:chExt cx="314325" cy="340519"/>
          </a:xfrm>
        </p:grpSpPr>
        <p:sp>
          <p:nvSpPr>
            <p:cNvPr id="19" name="Freeform 19"/>
            <p:cNvSpPr/>
            <p:nvPr/>
          </p:nvSpPr>
          <p:spPr>
            <a:xfrm>
              <a:off x="1760934" y="4052888"/>
              <a:ext cx="288131" cy="157162"/>
            </a:xfrm>
            <a:custGeom>
              <a:avLst/>
              <a:gdLst/>
              <a:ahLst/>
              <a:cxnLst/>
              <a:rect l="l" t="t" r="r" b="b"/>
              <a:pathLst>
                <a:path w="288131" h="157162">
                  <a:moveTo>
                    <a:pt x="288131" y="78581"/>
                  </a:moveTo>
                  <a:cubicBezTo>
                    <a:pt x="288131" y="121981"/>
                    <a:pt x="223629" y="157162"/>
                    <a:pt x="144066" y="157162"/>
                  </a:cubicBezTo>
                  <a:cubicBezTo>
                    <a:pt x="64502" y="157162"/>
                    <a:pt x="0" y="121981"/>
                    <a:pt x="0" y="78581"/>
                  </a:cubicBezTo>
                  <a:cubicBezTo>
                    <a:pt x="0" y="35181"/>
                    <a:pt x="64502" y="0"/>
                    <a:pt x="144066" y="0"/>
                  </a:cubicBezTo>
                  <a:cubicBezTo>
                    <a:pt x="223629" y="0"/>
                    <a:pt x="288131" y="35181"/>
                    <a:pt x="288131" y="78581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747838" y="4039791"/>
              <a:ext cx="314325" cy="340519"/>
            </a:xfrm>
            <a:custGeom>
              <a:avLst/>
              <a:gdLst/>
              <a:ahLst/>
              <a:cxnLst/>
              <a:rect l="l" t="t" r="r" b="b"/>
              <a:pathLst>
                <a:path w="314325" h="340519">
                  <a:moveTo>
                    <a:pt x="157162" y="0"/>
                  </a:moveTo>
                  <a:cubicBezTo>
                    <a:pt x="69037" y="0"/>
                    <a:pt x="0" y="40273"/>
                    <a:pt x="0" y="91678"/>
                  </a:cubicBezTo>
                  <a:lnTo>
                    <a:pt x="0" y="248841"/>
                  </a:lnTo>
                  <a:cubicBezTo>
                    <a:pt x="0" y="300246"/>
                    <a:pt x="69037" y="340519"/>
                    <a:pt x="157162" y="340519"/>
                  </a:cubicBezTo>
                  <a:cubicBezTo>
                    <a:pt x="245288" y="340519"/>
                    <a:pt x="314325" y="300246"/>
                    <a:pt x="314325" y="248841"/>
                  </a:cubicBezTo>
                  <a:lnTo>
                    <a:pt x="314325" y="91678"/>
                  </a:lnTo>
                  <a:cubicBezTo>
                    <a:pt x="314325" y="40273"/>
                    <a:pt x="245288" y="0"/>
                    <a:pt x="157162" y="0"/>
                  </a:cubicBezTo>
                  <a:close/>
                  <a:moveTo>
                    <a:pt x="288131" y="170259"/>
                  </a:moveTo>
                  <a:cubicBezTo>
                    <a:pt x="288131" y="186008"/>
                    <a:pt x="275231" y="202068"/>
                    <a:pt x="252753" y="214330"/>
                  </a:cubicBezTo>
                  <a:cubicBezTo>
                    <a:pt x="227444" y="228131"/>
                    <a:pt x="193490" y="235744"/>
                    <a:pt x="157162" y="235744"/>
                  </a:cubicBezTo>
                  <a:cubicBezTo>
                    <a:pt x="120835" y="235744"/>
                    <a:pt x="86881" y="228131"/>
                    <a:pt x="61572" y="214330"/>
                  </a:cubicBezTo>
                  <a:cubicBezTo>
                    <a:pt x="39094" y="202068"/>
                    <a:pt x="26194" y="186008"/>
                    <a:pt x="26194" y="170259"/>
                  </a:cubicBezTo>
                  <a:lnTo>
                    <a:pt x="26194" y="143018"/>
                  </a:lnTo>
                  <a:cubicBezTo>
                    <a:pt x="54123" y="167575"/>
                    <a:pt x="101877" y="183356"/>
                    <a:pt x="157162" y="183356"/>
                  </a:cubicBezTo>
                  <a:cubicBezTo>
                    <a:pt x="212448" y="183356"/>
                    <a:pt x="260202" y="167509"/>
                    <a:pt x="288131" y="143018"/>
                  </a:cubicBezTo>
                  <a:close/>
                  <a:moveTo>
                    <a:pt x="61572" y="47607"/>
                  </a:moveTo>
                  <a:cubicBezTo>
                    <a:pt x="86881" y="33806"/>
                    <a:pt x="120835" y="26194"/>
                    <a:pt x="157162" y="26194"/>
                  </a:cubicBezTo>
                  <a:cubicBezTo>
                    <a:pt x="193490" y="26194"/>
                    <a:pt x="227444" y="33806"/>
                    <a:pt x="252753" y="47607"/>
                  </a:cubicBezTo>
                  <a:cubicBezTo>
                    <a:pt x="275231" y="59869"/>
                    <a:pt x="288131" y="75929"/>
                    <a:pt x="288131" y="91678"/>
                  </a:cubicBezTo>
                  <a:cubicBezTo>
                    <a:pt x="288131" y="107427"/>
                    <a:pt x="275231" y="123487"/>
                    <a:pt x="252753" y="135749"/>
                  </a:cubicBezTo>
                  <a:cubicBezTo>
                    <a:pt x="227444" y="149550"/>
                    <a:pt x="193490" y="157162"/>
                    <a:pt x="157162" y="157162"/>
                  </a:cubicBezTo>
                  <a:cubicBezTo>
                    <a:pt x="120835" y="157162"/>
                    <a:pt x="86881" y="149550"/>
                    <a:pt x="61572" y="135749"/>
                  </a:cubicBezTo>
                  <a:cubicBezTo>
                    <a:pt x="39094" y="123487"/>
                    <a:pt x="26194" y="107427"/>
                    <a:pt x="26194" y="91678"/>
                  </a:cubicBezTo>
                  <a:cubicBezTo>
                    <a:pt x="26194" y="75929"/>
                    <a:pt x="39094" y="59869"/>
                    <a:pt x="61572" y="47607"/>
                  </a:cubicBezTo>
                  <a:close/>
                  <a:moveTo>
                    <a:pt x="252753" y="292912"/>
                  </a:moveTo>
                  <a:cubicBezTo>
                    <a:pt x="227444" y="306712"/>
                    <a:pt x="193490" y="314325"/>
                    <a:pt x="157162" y="314325"/>
                  </a:cubicBezTo>
                  <a:cubicBezTo>
                    <a:pt x="120835" y="314325"/>
                    <a:pt x="86881" y="306712"/>
                    <a:pt x="61572" y="292912"/>
                  </a:cubicBezTo>
                  <a:cubicBezTo>
                    <a:pt x="39094" y="280650"/>
                    <a:pt x="26194" y="264590"/>
                    <a:pt x="26194" y="248841"/>
                  </a:cubicBezTo>
                  <a:lnTo>
                    <a:pt x="26194" y="221599"/>
                  </a:lnTo>
                  <a:cubicBezTo>
                    <a:pt x="54123" y="246156"/>
                    <a:pt x="101877" y="261938"/>
                    <a:pt x="157162" y="261938"/>
                  </a:cubicBezTo>
                  <a:cubicBezTo>
                    <a:pt x="212448" y="261938"/>
                    <a:pt x="260202" y="246090"/>
                    <a:pt x="288131" y="221599"/>
                  </a:cubicBezTo>
                  <a:lnTo>
                    <a:pt x="288131" y="248841"/>
                  </a:lnTo>
                  <a:cubicBezTo>
                    <a:pt x="288131" y="264590"/>
                    <a:pt x="275231" y="280650"/>
                    <a:pt x="252753" y="292912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319338" y="39314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能力层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24100" y="4257675"/>
            <a:ext cx="52192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模型能力、记忆、RAG 知识库、代码执行器、业务 API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28750" y="48577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1734741" y="5080397"/>
            <a:ext cx="340519" cy="353616"/>
            <a:chOff x="1734741" y="5080397"/>
            <a:chExt cx="340519" cy="353616"/>
          </a:xfrm>
        </p:grpSpPr>
        <p:sp>
          <p:nvSpPr>
            <p:cNvPr id="25" name="Freeform 25"/>
            <p:cNvSpPr/>
            <p:nvPr/>
          </p:nvSpPr>
          <p:spPr>
            <a:xfrm>
              <a:off x="1747838" y="5158978"/>
              <a:ext cx="314325" cy="261938"/>
            </a:xfrm>
            <a:custGeom>
              <a:avLst/>
              <a:gdLst/>
              <a:ahLst/>
              <a:cxnLst/>
              <a:rect l="l" t="t" r="r" b="b"/>
              <a:pathLst>
                <a:path w="314325" h="261938">
                  <a:moveTo>
                    <a:pt x="275034" y="0"/>
                  </a:moveTo>
                  <a:lnTo>
                    <a:pt x="39291" y="0"/>
                  </a:lnTo>
                  <a:cubicBezTo>
                    <a:pt x="17591" y="0"/>
                    <a:pt x="0" y="17591"/>
                    <a:pt x="0" y="39291"/>
                  </a:cubicBezTo>
                  <a:lnTo>
                    <a:pt x="0" y="222647"/>
                  </a:lnTo>
                  <a:cubicBezTo>
                    <a:pt x="0" y="244346"/>
                    <a:pt x="17591" y="261938"/>
                    <a:pt x="39291" y="261938"/>
                  </a:cubicBezTo>
                  <a:lnTo>
                    <a:pt x="275034" y="261938"/>
                  </a:lnTo>
                  <a:cubicBezTo>
                    <a:pt x="296734" y="261938"/>
                    <a:pt x="314325" y="244346"/>
                    <a:pt x="314325" y="222647"/>
                  </a:cubicBezTo>
                  <a:lnTo>
                    <a:pt x="314325" y="39291"/>
                  </a:lnTo>
                  <a:cubicBezTo>
                    <a:pt x="314325" y="17591"/>
                    <a:pt x="296734" y="0"/>
                    <a:pt x="275034" y="0"/>
                  </a:cubicBezTo>
                  <a:close/>
                  <a:moveTo>
                    <a:pt x="216098" y="209550"/>
                  </a:moveTo>
                  <a:lnTo>
                    <a:pt x="98227" y="209550"/>
                  </a:lnTo>
                  <a:cubicBezTo>
                    <a:pt x="80144" y="209550"/>
                    <a:pt x="65484" y="194891"/>
                    <a:pt x="65484" y="176808"/>
                  </a:cubicBezTo>
                  <a:cubicBezTo>
                    <a:pt x="65484" y="158725"/>
                    <a:pt x="80144" y="144066"/>
                    <a:pt x="98227" y="144066"/>
                  </a:cubicBezTo>
                  <a:lnTo>
                    <a:pt x="216098" y="144066"/>
                  </a:lnTo>
                  <a:cubicBezTo>
                    <a:pt x="234181" y="144066"/>
                    <a:pt x="248841" y="158725"/>
                    <a:pt x="248841" y="176808"/>
                  </a:cubicBezTo>
                  <a:cubicBezTo>
                    <a:pt x="248841" y="194891"/>
                    <a:pt x="234181" y="209550"/>
                    <a:pt x="216098" y="20955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734741" y="5080397"/>
              <a:ext cx="340519" cy="353616"/>
            </a:xfrm>
            <a:custGeom>
              <a:avLst/>
              <a:gdLst/>
              <a:ahLst/>
              <a:cxnLst/>
              <a:rect l="l" t="t" r="r" b="b"/>
              <a:pathLst>
                <a:path w="340519" h="353616">
                  <a:moveTo>
                    <a:pt x="288131" y="65484"/>
                  </a:moveTo>
                  <a:lnTo>
                    <a:pt x="183356" y="65484"/>
                  </a:lnTo>
                  <a:lnTo>
                    <a:pt x="183356" y="13097"/>
                  </a:lnTo>
                  <a:cubicBezTo>
                    <a:pt x="183356" y="5864"/>
                    <a:pt x="177493" y="0"/>
                    <a:pt x="170259" y="0"/>
                  </a:cubicBezTo>
                  <a:cubicBezTo>
                    <a:pt x="163026" y="0"/>
                    <a:pt x="157162" y="5864"/>
                    <a:pt x="157162" y="13097"/>
                  </a:cubicBezTo>
                  <a:lnTo>
                    <a:pt x="157162" y="65484"/>
                  </a:lnTo>
                  <a:lnTo>
                    <a:pt x="52388" y="65484"/>
                  </a:lnTo>
                  <a:cubicBezTo>
                    <a:pt x="23455" y="65484"/>
                    <a:pt x="0" y="88939"/>
                    <a:pt x="0" y="117872"/>
                  </a:cubicBezTo>
                  <a:lnTo>
                    <a:pt x="0" y="301228"/>
                  </a:lnTo>
                  <a:cubicBezTo>
                    <a:pt x="0" y="330161"/>
                    <a:pt x="23455" y="353616"/>
                    <a:pt x="52388" y="353616"/>
                  </a:cubicBezTo>
                  <a:lnTo>
                    <a:pt x="288131" y="353616"/>
                  </a:lnTo>
                  <a:cubicBezTo>
                    <a:pt x="317064" y="353616"/>
                    <a:pt x="340519" y="330161"/>
                    <a:pt x="340519" y="301228"/>
                  </a:cubicBezTo>
                  <a:lnTo>
                    <a:pt x="340519" y="117872"/>
                  </a:lnTo>
                  <a:cubicBezTo>
                    <a:pt x="340519" y="88939"/>
                    <a:pt x="317064" y="65484"/>
                    <a:pt x="288131" y="65484"/>
                  </a:cubicBezTo>
                  <a:close/>
                  <a:moveTo>
                    <a:pt x="314325" y="301228"/>
                  </a:moveTo>
                  <a:cubicBezTo>
                    <a:pt x="314325" y="315695"/>
                    <a:pt x="302598" y="327422"/>
                    <a:pt x="288131" y="327422"/>
                  </a:cubicBezTo>
                  <a:lnTo>
                    <a:pt x="52388" y="327422"/>
                  </a:lnTo>
                  <a:cubicBezTo>
                    <a:pt x="37921" y="327422"/>
                    <a:pt x="26194" y="315695"/>
                    <a:pt x="26194" y="301228"/>
                  </a:cubicBezTo>
                  <a:lnTo>
                    <a:pt x="26194" y="117872"/>
                  </a:lnTo>
                  <a:cubicBezTo>
                    <a:pt x="26194" y="103405"/>
                    <a:pt x="37921" y="91678"/>
                    <a:pt x="52388" y="91678"/>
                  </a:cubicBezTo>
                  <a:lnTo>
                    <a:pt x="288131" y="91678"/>
                  </a:lnTo>
                  <a:cubicBezTo>
                    <a:pt x="302598" y="91678"/>
                    <a:pt x="314325" y="103405"/>
                    <a:pt x="314325" y="117872"/>
                  </a:cubicBezTo>
                  <a:close/>
                  <a:moveTo>
                    <a:pt x="229195" y="209550"/>
                  </a:moveTo>
                  <a:lnTo>
                    <a:pt x="111323" y="209550"/>
                  </a:lnTo>
                  <a:cubicBezTo>
                    <a:pt x="86007" y="209550"/>
                    <a:pt x="65484" y="230073"/>
                    <a:pt x="65484" y="255389"/>
                  </a:cubicBezTo>
                  <a:cubicBezTo>
                    <a:pt x="65484" y="280705"/>
                    <a:pt x="86007" y="301228"/>
                    <a:pt x="111323" y="301228"/>
                  </a:cubicBezTo>
                  <a:lnTo>
                    <a:pt x="229195" y="301228"/>
                  </a:lnTo>
                  <a:cubicBezTo>
                    <a:pt x="254512" y="301228"/>
                    <a:pt x="275034" y="280705"/>
                    <a:pt x="275034" y="255389"/>
                  </a:cubicBezTo>
                  <a:cubicBezTo>
                    <a:pt x="275034" y="230073"/>
                    <a:pt x="254512" y="209550"/>
                    <a:pt x="229195" y="209550"/>
                  </a:cubicBezTo>
                  <a:close/>
                  <a:moveTo>
                    <a:pt x="183356" y="235744"/>
                  </a:moveTo>
                  <a:lnTo>
                    <a:pt x="183356" y="275034"/>
                  </a:lnTo>
                  <a:lnTo>
                    <a:pt x="157162" y="275034"/>
                  </a:lnTo>
                  <a:lnTo>
                    <a:pt x="157162" y="235744"/>
                  </a:lnTo>
                  <a:close/>
                  <a:moveTo>
                    <a:pt x="91678" y="255389"/>
                  </a:moveTo>
                  <a:cubicBezTo>
                    <a:pt x="91678" y="244539"/>
                    <a:pt x="100474" y="235744"/>
                    <a:pt x="111323" y="235744"/>
                  </a:cubicBezTo>
                  <a:lnTo>
                    <a:pt x="130969" y="235744"/>
                  </a:lnTo>
                  <a:lnTo>
                    <a:pt x="130969" y="275034"/>
                  </a:lnTo>
                  <a:lnTo>
                    <a:pt x="111323" y="275034"/>
                  </a:lnTo>
                  <a:cubicBezTo>
                    <a:pt x="100474" y="275034"/>
                    <a:pt x="91678" y="266239"/>
                    <a:pt x="91678" y="255389"/>
                  </a:cubicBezTo>
                  <a:close/>
                  <a:moveTo>
                    <a:pt x="229195" y="275034"/>
                  </a:moveTo>
                  <a:lnTo>
                    <a:pt x="209550" y="275034"/>
                  </a:lnTo>
                  <a:lnTo>
                    <a:pt x="209550" y="235744"/>
                  </a:lnTo>
                  <a:lnTo>
                    <a:pt x="229195" y="235744"/>
                  </a:lnTo>
                  <a:cubicBezTo>
                    <a:pt x="240045" y="235744"/>
                    <a:pt x="248841" y="244539"/>
                    <a:pt x="248841" y="255389"/>
                  </a:cubicBezTo>
                  <a:cubicBezTo>
                    <a:pt x="248841" y="266239"/>
                    <a:pt x="240045" y="275034"/>
                    <a:pt x="229195" y="275034"/>
                  </a:cubicBezTo>
                  <a:close/>
                  <a:moveTo>
                    <a:pt x="78581" y="163711"/>
                  </a:moveTo>
                  <a:cubicBezTo>
                    <a:pt x="78581" y="152861"/>
                    <a:pt x="87377" y="144066"/>
                    <a:pt x="98227" y="144066"/>
                  </a:cubicBezTo>
                  <a:cubicBezTo>
                    <a:pt x="109076" y="144066"/>
                    <a:pt x="117872" y="152861"/>
                    <a:pt x="117872" y="163711"/>
                  </a:cubicBezTo>
                  <a:cubicBezTo>
                    <a:pt x="117872" y="174561"/>
                    <a:pt x="109076" y="183356"/>
                    <a:pt x="98227" y="183356"/>
                  </a:cubicBezTo>
                  <a:cubicBezTo>
                    <a:pt x="87377" y="183356"/>
                    <a:pt x="78581" y="174561"/>
                    <a:pt x="78581" y="163711"/>
                  </a:cubicBezTo>
                  <a:close/>
                  <a:moveTo>
                    <a:pt x="222647" y="163711"/>
                  </a:moveTo>
                  <a:cubicBezTo>
                    <a:pt x="222647" y="152861"/>
                    <a:pt x="231442" y="144066"/>
                    <a:pt x="242292" y="144066"/>
                  </a:cubicBezTo>
                  <a:cubicBezTo>
                    <a:pt x="253142" y="144066"/>
                    <a:pt x="261938" y="152861"/>
                    <a:pt x="261938" y="163711"/>
                  </a:cubicBezTo>
                  <a:cubicBezTo>
                    <a:pt x="261938" y="174561"/>
                    <a:pt x="253142" y="183356"/>
                    <a:pt x="242292" y="183356"/>
                  </a:cubicBezTo>
                  <a:cubicBezTo>
                    <a:pt x="231442" y="183356"/>
                    <a:pt x="222647" y="174561"/>
                    <a:pt x="222647" y="16371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2319338" y="49982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24100" y="532447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规划者、研究员、执行者、评审者、安全检查员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713244" y="2947988"/>
            <a:ext cx="610791" cy="542925"/>
            <a:chOff x="10713244" y="2947988"/>
            <a:chExt cx="610791" cy="542925"/>
          </a:xfrm>
        </p:grpSpPr>
        <p:sp>
          <p:nvSpPr>
            <p:cNvPr id="30" name="Freeform 30"/>
            <p:cNvSpPr/>
            <p:nvPr/>
          </p:nvSpPr>
          <p:spPr>
            <a:xfrm>
              <a:off x="10735866" y="2970609"/>
              <a:ext cx="565547" cy="497681"/>
            </a:xfrm>
            <a:custGeom>
              <a:avLst/>
              <a:gdLst/>
              <a:ahLst/>
              <a:cxnLst/>
              <a:rect l="l" t="t" r="r" b="b"/>
              <a:pathLst>
                <a:path w="565547" h="497681">
                  <a:moveTo>
                    <a:pt x="135731" y="203597"/>
                  </a:moveTo>
                  <a:lnTo>
                    <a:pt x="135731" y="294084"/>
                  </a:lnTo>
                  <a:cubicBezTo>
                    <a:pt x="135731" y="306578"/>
                    <a:pt x="125603" y="316706"/>
                    <a:pt x="113109" y="316706"/>
                  </a:cubicBezTo>
                  <a:lnTo>
                    <a:pt x="22622" y="316706"/>
                  </a:lnTo>
                  <a:cubicBezTo>
                    <a:pt x="10128" y="316706"/>
                    <a:pt x="0" y="306578"/>
                    <a:pt x="0" y="294084"/>
                  </a:cubicBezTo>
                  <a:lnTo>
                    <a:pt x="0" y="203597"/>
                  </a:lnTo>
                  <a:cubicBezTo>
                    <a:pt x="0" y="191103"/>
                    <a:pt x="10128" y="180975"/>
                    <a:pt x="22622" y="180975"/>
                  </a:cubicBezTo>
                  <a:lnTo>
                    <a:pt x="113109" y="180975"/>
                  </a:lnTo>
                  <a:cubicBezTo>
                    <a:pt x="125603" y="180975"/>
                    <a:pt x="135731" y="191103"/>
                    <a:pt x="135731" y="203597"/>
                  </a:cubicBezTo>
                  <a:close/>
                  <a:moveTo>
                    <a:pt x="542925" y="0"/>
                  </a:moveTo>
                  <a:lnTo>
                    <a:pt x="407194" y="0"/>
                  </a:lnTo>
                  <a:cubicBezTo>
                    <a:pt x="394700" y="0"/>
                    <a:pt x="384572" y="10128"/>
                    <a:pt x="384572" y="22622"/>
                  </a:cubicBezTo>
                  <a:lnTo>
                    <a:pt x="384572" y="158353"/>
                  </a:lnTo>
                  <a:cubicBezTo>
                    <a:pt x="384572" y="170847"/>
                    <a:pt x="394700" y="180975"/>
                    <a:pt x="407194" y="180975"/>
                  </a:cubicBezTo>
                  <a:lnTo>
                    <a:pt x="542925" y="180975"/>
                  </a:lnTo>
                  <a:cubicBezTo>
                    <a:pt x="555419" y="180975"/>
                    <a:pt x="565547" y="170847"/>
                    <a:pt x="565547" y="158353"/>
                  </a:cubicBezTo>
                  <a:lnTo>
                    <a:pt x="565547" y="22622"/>
                  </a:lnTo>
                  <a:cubicBezTo>
                    <a:pt x="565547" y="10128"/>
                    <a:pt x="555419" y="0"/>
                    <a:pt x="542925" y="0"/>
                  </a:cubicBezTo>
                  <a:close/>
                  <a:moveTo>
                    <a:pt x="542925" y="316706"/>
                  </a:moveTo>
                  <a:lnTo>
                    <a:pt x="407194" y="316706"/>
                  </a:lnTo>
                  <a:cubicBezTo>
                    <a:pt x="394700" y="316706"/>
                    <a:pt x="384572" y="326834"/>
                    <a:pt x="384572" y="339328"/>
                  </a:cubicBezTo>
                  <a:lnTo>
                    <a:pt x="384572" y="475059"/>
                  </a:lnTo>
                  <a:cubicBezTo>
                    <a:pt x="384572" y="487553"/>
                    <a:pt x="394700" y="497681"/>
                    <a:pt x="407194" y="497681"/>
                  </a:cubicBezTo>
                  <a:lnTo>
                    <a:pt x="542925" y="497681"/>
                  </a:lnTo>
                  <a:cubicBezTo>
                    <a:pt x="555419" y="497681"/>
                    <a:pt x="565547" y="487553"/>
                    <a:pt x="565547" y="475059"/>
                  </a:cubicBezTo>
                  <a:lnTo>
                    <a:pt x="565547" y="339328"/>
                  </a:lnTo>
                  <a:cubicBezTo>
                    <a:pt x="565547" y="326834"/>
                    <a:pt x="555419" y="316706"/>
                    <a:pt x="542925" y="316706"/>
                  </a:cubicBez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713244" y="2947988"/>
              <a:ext cx="610791" cy="542925"/>
            </a:xfrm>
            <a:custGeom>
              <a:avLst/>
              <a:gdLst/>
              <a:ahLst/>
              <a:cxnLst/>
              <a:rect l="l" t="t" r="r" b="b"/>
              <a:pathLst>
                <a:path w="610791" h="542925">
                  <a:moveTo>
                    <a:pt x="429816" y="226219"/>
                  </a:moveTo>
                  <a:lnTo>
                    <a:pt x="565547" y="226219"/>
                  </a:lnTo>
                  <a:cubicBezTo>
                    <a:pt x="590534" y="226219"/>
                    <a:pt x="610791" y="205962"/>
                    <a:pt x="610791" y="180975"/>
                  </a:cubicBezTo>
                  <a:lnTo>
                    <a:pt x="610791" y="45244"/>
                  </a:lnTo>
                  <a:cubicBezTo>
                    <a:pt x="610791" y="20256"/>
                    <a:pt x="590534" y="0"/>
                    <a:pt x="565547" y="0"/>
                  </a:cubicBezTo>
                  <a:lnTo>
                    <a:pt x="429816" y="0"/>
                  </a:lnTo>
                  <a:cubicBezTo>
                    <a:pt x="404828" y="0"/>
                    <a:pt x="384572" y="20256"/>
                    <a:pt x="384572" y="45244"/>
                  </a:cubicBezTo>
                  <a:lnTo>
                    <a:pt x="384572" y="90488"/>
                  </a:lnTo>
                  <a:lnTo>
                    <a:pt x="361950" y="90488"/>
                  </a:lnTo>
                  <a:cubicBezTo>
                    <a:pt x="311975" y="90488"/>
                    <a:pt x="271462" y="131000"/>
                    <a:pt x="271462" y="180975"/>
                  </a:cubicBezTo>
                  <a:lnTo>
                    <a:pt x="271462" y="248841"/>
                  </a:lnTo>
                  <a:lnTo>
                    <a:pt x="180975" y="248841"/>
                  </a:lnTo>
                  <a:lnTo>
                    <a:pt x="180975" y="226219"/>
                  </a:lnTo>
                  <a:cubicBezTo>
                    <a:pt x="180975" y="201231"/>
                    <a:pt x="160719" y="180975"/>
                    <a:pt x="135731" y="180975"/>
                  </a:cubicBezTo>
                  <a:lnTo>
                    <a:pt x="45244" y="180975"/>
                  </a:lnTo>
                  <a:cubicBezTo>
                    <a:pt x="20256" y="180975"/>
                    <a:pt x="0" y="201231"/>
                    <a:pt x="0" y="226219"/>
                  </a:cubicBezTo>
                  <a:lnTo>
                    <a:pt x="0" y="316706"/>
                  </a:lnTo>
                  <a:cubicBezTo>
                    <a:pt x="0" y="341694"/>
                    <a:pt x="20256" y="361950"/>
                    <a:pt x="45244" y="361950"/>
                  </a:cubicBezTo>
                  <a:lnTo>
                    <a:pt x="135731" y="361950"/>
                  </a:lnTo>
                  <a:cubicBezTo>
                    <a:pt x="160719" y="361950"/>
                    <a:pt x="180975" y="341694"/>
                    <a:pt x="180975" y="316706"/>
                  </a:cubicBezTo>
                  <a:lnTo>
                    <a:pt x="180975" y="294084"/>
                  </a:lnTo>
                  <a:lnTo>
                    <a:pt x="271462" y="294084"/>
                  </a:lnTo>
                  <a:lnTo>
                    <a:pt x="271462" y="361950"/>
                  </a:lnTo>
                  <a:cubicBezTo>
                    <a:pt x="271462" y="411925"/>
                    <a:pt x="311975" y="452438"/>
                    <a:pt x="361950" y="452438"/>
                  </a:cubicBezTo>
                  <a:lnTo>
                    <a:pt x="384572" y="452438"/>
                  </a:lnTo>
                  <a:lnTo>
                    <a:pt x="384572" y="497681"/>
                  </a:lnTo>
                  <a:cubicBezTo>
                    <a:pt x="384572" y="522669"/>
                    <a:pt x="404828" y="542925"/>
                    <a:pt x="429816" y="542925"/>
                  </a:cubicBezTo>
                  <a:lnTo>
                    <a:pt x="565547" y="542925"/>
                  </a:lnTo>
                  <a:cubicBezTo>
                    <a:pt x="590534" y="542925"/>
                    <a:pt x="610791" y="522669"/>
                    <a:pt x="610791" y="497681"/>
                  </a:cubicBezTo>
                  <a:lnTo>
                    <a:pt x="610791" y="361950"/>
                  </a:lnTo>
                  <a:cubicBezTo>
                    <a:pt x="610791" y="336963"/>
                    <a:pt x="590534" y="316706"/>
                    <a:pt x="565547" y="316706"/>
                  </a:cubicBezTo>
                  <a:lnTo>
                    <a:pt x="429816" y="316706"/>
                  </a:lnTo>
                  <a:cubicBezTo>
                    <a:pt x="404828" y="316706"/>
                    <a:pt x="384572" y="336963"/>
                    <a:pt x="384572" y="361950"/>
                  </a:cubicBezTo>
                  <a:lnTo>
                    <a:pt x="384572" y="407194"/>
                  </a:lnTo>
                  <a:lnTo>
                    <a:pt x="361950" y="407194"/>
                  </a:lnTo>
                  <a:cubicBezTo>
                    <a:pt x="336963" y="407194"/>
                    <a:pt x="316706" y="386937"/>
                    <a:pt x="316706" y="361950"/>
                  </a:cubicBezTo>
                  <a:lnTo>
                    <a:pt x="316706" y="180975"/>
                  </a:lnTo>
                  <a:cubicBezTo>
                    <a:pt x="316706" y="155988"/>
                    <a:pt x="336963" y="135731"/>
                    <a:pt x="361950" y="135731"/>
                  </a:cubicBezTo>
                  <a:lnTo>
                    <a:pt x="384572" y="135731"/>
                  </a:lnTo>
                  <a:lnTo>
                    <a:pt x="384572" y="180975"/>
                  </a:lnTo>
                  <a:cubicBezTo>
                    <a:pt x="384572" y="205962"/>
                    <a:pt x="404828" y="226219"/>
                    <a:pt x="429816" y="226219"/>
                  </a:cubicBezTo>
                  <a:close/>
                  <a:moveTo>
                    <a:pt x="135731" y="316706"/>
                  </a:moveTo>
                  <a:lnTo>
                    <a:pt x="45244" y="316706"/>
                  </a:lnTo>
                  <a:lnTo>
                    <a:pt x="45244" y="226219"/>
                  </a:lnTo>
                  <a:lnTo>
                    <a:pt x="135731" y="226219"/>
                  </a:lnTo>
                  <a:lnTo>
                    <a:pt x="135731" y="316706"/>
                  </a:lnTo>
                  <a:close/>
                  <a:moveTo>
                    <a:pt x="429816" y="361950"/>
                  </a:moveTo>
                  <a:lnTo>
                    <a:pt x="565547" y="361950"/>
                  </a:lnTo>
                  <a:lnTo>
                    <a:pt x="565547" y="497681"/>
                  </a:lnTo>
                  <a:lnTo>
                    <a:pt x="429816" y="497681"/>
                  </a:lnTo>
                  <a:close/>
                  <a:moveTo>
                    <a:pt x="429816" y="45244"/>
                  </a:moveTo>
                  <a:lnTo>
                    <a:pt x="565547" y="45244"/>
                  </a:lnTo>
                  <a:lnTo>
                    <a:pt x="565547" y="180975"/>
                  </a:lnTo>
                  <a:lnTo>
                    <a:pt x="429816" y="180975"/>
                  </a:ln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521970" y="6398895"/>
            <a:ext cx="22902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Visualization: layered architecture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 / 10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042762" y="410528"/>
            <a:ext cx="61064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中小型大模型是 MAS 的基础执行层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62213" y="933450"/>
            <a:ext cx="7267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不是全面替代超大模型，而是在明确边界内高频、稳定、可治理地执行任务</a:t>
            </a:r>
          </a:p>
        </p:txBody>
      </p:sp>
      <p:sp>
        <p:nvSpPr>
          <p:cNvPr id="5" name="Ellipse 5"/>
          <p:cNvSpPr/>
          <p:nvPr/>
        </p:nvSpPr>
        <p:spPr>
          <a:xfrm>
            <a:off x="4629150" y="1962150"/>
            <a:ext cx="2933700" cy="2933700"/>
          </a:xfrm>
          <a:prstGeom prst="ellipse">
            <a:avLst/>
          </a:prstGeom>
          <a:solidFill>
            <a:srgbClr val="EAF2F8"/>
          </a:solidFill>
          <a:ln w="28575">
            <a:solidFill>
              <a:srgbClr val="1565C0"/>
            </a:solidFill>
          </a:ln>
        </p:spPr>
      </p:sp>
      <p:sp>
        <p:nvSpPr>
          <p:cNvPr id="6" name="Ellipse 6"/>
          <p:cNvSpPr/>
          <p:nvPr/>
        </p:nvSpPr>
        <p:spPr>
          <a:xfrm>
            <a:off x="5095875" y="2428875"/>
            <a:ext cx="2000250" cy="2000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5770959" y="2577703"/>
            <a:ext cx="650081" cy="675084"/>
            <a:chOff x="5770959" y="2577703"/>
            <a:chExt cx="650081" cy="675084"/>
          </a:xfrm>
        </p:grpSpPr>
        <p:sp>
          <p:nvSpPr>
            <p:cNvPr id="7" name="Freeform 7"/>
            <p:cNvSpPr/>
            <p:nvPr/>
          </p:nvSpPr>
          <p:spPr>
            <a:xfrm>
              <a:off x="5795962" y="2727722"/>
              <a:ext cx="600075" cy="500062"/>
            </a:xfrm>
            <a:custGeom>
              <a:avLst/>
              <a:gdLst/>
              <a:ahLst/>
              <a:cxnLst/>
              <a:rect l="l" t="t" r="r" b="b"/>
              <a:pathLst>
                <a:path w="600075" h="500062">
                  <a:moveTo>
                    <a:pt x="525066" y="0"/>
                  </a:moveTo>
                  <a:lnTo>
                    <a:pt x="75009" y="0"/>
                  </a:lnTo>
                  <a:cubicBezTo>
                    <a:pt x="33583" y="0"/>
                    <a:pt x="0" y="33583"/>
                    <a:pt x="0" y="75009"/>
                  </a:cubicBezTo>
                  <a:lnTo>
                    <a:pt x="0" y="425053"/>
                  </a:lnTo>
                  <a:cubicBezTo>
                    <a:pt x="0" y="466480"/>
                    <a:pt x="33583" y="500062"/>
                    <a:pt x="75009" y="500062"/>
                  </a:cubicBezTo>
                  <a:lnTo>
                    <a:pt x="525066" y="500062"/>
                  </a:lnTo>
                  <a:cubicBezTo>
                    <a:pt x="566492" y="500062"/>
                    <a:pt x="600075" y="466480"/>
                    <a:pt x="600075" y="425053"/>
                  </a:cubicBezTo>
                  <a:lnTo>
                    <a:pt x="600075" y="75009"/>
                  </a:lnTo>
                  <a:cubicBezTo>
                    <a:pt x="600075" y="33583"/>
                    <a:pt x="566492" y="0"/>
                    <a:pt x="525066" y="0"/>
                  </a:cubicBezTo>
                  <a:close/>
                  <a:moveTo>
                    <a:pt x="412552" y="400050"/>
                  </a:moveTo>
                  <a:lnTo>
                    <a:pt x="187523" y="400050"/>
                  </a:lnTo>
                  <a:cubicBezTo>
                    <a:pt x="153001" y="400050"/>
                    <a:pt x="125016" y="372064"/>
                    <a:pt x="125016" y="337542"/>
                  </a:cubicBezTo>
                  <a:cubicBezTo>
                    <a:pt x="125016" y="303020"/>
                    <a:pt x="153001" y="275034"/>
                    <a:pt x="187523" y="275034"/>
                  </a:cubicBezTo>
                  <a:lnTo>
                    <a:pt x="412552" y="275034"/>
                  </a:lnTo>
                  <a:cubicBezTo>
                    <a:pt x="447074" y="275034"/>
                    <a:pt x="475059" y="303020"/>
                    <a:pt x="475059" y="337542"/>
                  </a:cubicBezTo>
                  <a:cubicBezTo>
                    <a:pt x="475059" y="372064"/>
                    <a:pt x="447074" y="400050"/>
                    <a:pt x="412552" y="40005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70959" y="2577703"/>
              <a:ext cx="650081" cy="675084"/>
            </a:xfrm>
            <a:custGeom>
              <a:avLst/>
              <a:gdLst/>
              <a:ahLst/>
              <a:cxnLst/>
              <a:rect l="l" t="t" r="r" b="b"/>
              <a:pathLst>
                <a:path w="650081" h="675084">
                  <a:moveTo>
                    <a:pt x="550069" y="125016"/>
                  </a:moveTo>
                  <a:lnTo>
                    <a:pt x="350044" y="125016"/>
                  </a:lnTo>
                  <a:lnTo>
                    <a:pt x="350044" y="25003"/>
                  </a:lnTo>
                  <a:cubicBezTo>
                    <a:pt x="350044" y="11194"/>
                    <a:pt x="338849" y="0"/>
                    <a:pt x="325041" y="0"/>
                  </a:cubicBezTo>
                  <a:cubicBezTo>
                    <a:pt x="311232" y="0"/>
                    <a:pt x="300038" y="11194"/>
                    <a:pt x="300038" y="25003"/>
                  </a:cubicBezTo>
                  <a:lnTo>
                    <a:pt x="300038" y="125016"/>
                  </a:lnTo>
                  <a:lnTo>
                    <a:pt x="100012" y="125016"/>
                  </a:lnTo>
                  <a:cubicBezTo>
                    <a:pt x="44777" y="125016"/>
                    <a:pt x="0" y="169793"/>
                    <a:pt x="0" y="225028"/>
                  </a:cubicBezTo>
                  <a:lnTo>
                    <a:pt x="0" y="575072"/>
                  </a:lnTo>
                  <a:cubicBezTo>
                    <a:pt x="0" y="630307"/>
                    <a:pt x="44777" y="675084"/>
                    <a:pt x="100012" y="675084"/>
                  </a:cubicBezTo>
                  <a:lnTo>
                    <a:pt x="550069" y="675084"/>
                  </a:lnTo>
                  <a:cubicBezTo>
                    <a:pt x="605304" y="675084"/>
                    <a:pt x="650081" y="630307"/>
                    <a:pt x="650081" y="575072"/>
                  </a:cubicBezTo>
                  <a:lnTo>
                    <a:pt x="650081" y="225028"/>
                  </a:lnTo>
                  <a:cubicBezTo>
                    <a:pt x="650081" y="169793"/>
                    <a:pt x="605304" y="125016"/>
                    <a:pt x="550069" y="125016"/>
                  </a:cubicBezTo>
                  <a:close/>
                  <a:moveTo>
                    <a:pt x="600075" y="575072"/>
                  </a:moveTo>
                  <a:cubicBezTo>
                    <a:pt x="600075" y="602690"/>
                    <a:pt x="577686" y="625078"/>
                    <a:pt x="550069" y="625078"/>
                  </a:cubicBezTo>
                  <a:lnTo>
                    <a:pt x="100012" y="625078"/>
                  </a:lnTo>
                  <a:cubicBezTo>
                    <a:pt x="72395" y="625078"/>
                    <a:pt x="50006" y="602690"/>
                    <a:pt x="50006" y="575072"/>
                  </a:cubicBezTo>
                  <a:lnTo>
                    <a:pt x="50006" y="225028"/>
                  </a:lnTo>
                  <a:cubicBezTo>
                    <a:pt x="50006" y="197410"/>
                    <a:pt x="72395" y="175022"/>
                    <a:pt x="100012" y="175022"/>
                  </a:cubicBezTo>
                  <a:lnTo>
                    <a:pt x="550069" y="175022"/>
                  </a:lnTo>
                  <a:cubicBezTo>
                    <a:pt x="577686" y="175022"/>
                    <a:pt x="600075" y="197410"/>
                    <a:pt x="600075" y="225028"/>
                  </a:cubicBezTo>
                  <a:close/>
                  <a:moveTo>
                    <a:pt x="437555" y="400050"/>
                  </a:moveTo>
                  <a:lnTo>
                    <a:pt x="212527" y="400050"/>
                  </a:lnTo>
                  <a:cubicBezTo>
                    <a:pt x="164196" y="400050"/>
                    <a:pt x="125016" y="439230"/>
                    <a:pt x="125016" y="487561"/>
                  </a:cubicBezTo>
                  <a:cubicBezTo>
                    <a:pt x="125016" y="535892"/>
                    <a:pt x="164196" y="575072"/>
                    <a:pt x="212527" y="575072"/>
                  </a:cubicBezTo>
                  <a:lnTo>
                    <a:pt x="437555" y="575072"/>
                  </a:lnTo>
                  <a:cubicBezTo>
                    <a:pt x="485886" y="575072"/>
                    <a:pt x="525066" y="535892"/>
                    <a:pt x="525066" y="487561"/>
                  </a:cubicBezTo>
                  <a:cubicBezTo>
                    <a:pt x="525066" y="439230"/>
                    <a:pt x="485886" y="400050"/>
                    <a:pt x="437555" y="400050"/>
                  </a:cubicBezTo>
                  <a:close/>
                  <a:moveTo>
                    <a:pt x="350044" y="450056"/>
                  </a:moveTo>
                  <a:lnTo>
                    <a:pt x="350044" y="525066"/>
                  </a:lnTo>
                  <a:lnTo>
                    <a:pt x="300038" y="525066"/>
                  </a:lnTo>
                  <a:lnTo>
                    <a:pt x="300038" y="450056"/>
                  </a:lnTo>
                  <a:close/>
                  <a:moveTo>
                    <a:pt x="175022" y="487561"/>
                  </a:moveTo>
                  <a:cubicBezTo>
                    <a:pt x="175022" y="466848"/>
                    <a:pt x="191813" y="450056"/>
                    <a:pt x="212527" y="450056"/>
                  </a:cubicBezTo>
                  <a:lnTo>
                    <a:pt x="250031" y="450056"/>
                  </a:lnTo>
                  <a:lnTo>
                    <a:pt x="250031" y="525066"/>
                  </a:lnTo>
                  <a:lnTo>
                    <a:pt x="212527" y="525066"/>
                  </a:lnTo>
                  <a:cubicBezTo>
                    <a:pt x="191813" y="525066"/>
                    <a:pt x="175022" y="508274"/>
                    <a:pt x="175022" y="487561"/>
                  </a:cubicBezTo>
                  <a:close/>
                  <a:moveTo>
                    <a:pt x="437555" y="525066"/>
                  </a:moveTo>
                  <a:lnTo>
                    <a:pt x="400050" y="525066"/>
                  </a:lnTo>
                  <a:lnTo>
                    <a:pt x="400050" y="450056"/>
                  </a:lnTo>
                  <a:lnTo>
                    <a:pt x="437555" y="450056"/>
                  </a:lnTo>
                  <a:cubicBezTo>
                    <a:pt x="458268" y="450056"/>
                    <a:pt x="475059" y="466848"/>
                    <a:pt x="475059" y="487561"/>
                  </a:cubicBezTo>
                  <a:cubicBezTo>
                    <a:pt x="475059" y="508274"/>
                    <a:pt x="458268" y="525066"/>
                    <a:pt x="437555" y="525066"/>
                  </a:cubicBezTo>
                  <a:close/>
                  <a:moveTo>
                    <a:pt x="150019" y="312539"/>
                  </a:moveTo>
                  <a:cubicBezTo>
                    <a:pt x="150019" y="291826"/>
                    <a:pt x="166810" y="275034"/>
                    <a:pt x="187523" y="275034"/>
                  </a:cubicBezTo>
                  <a:cubicBezTo>
                    <a:pt x="208237" y="275034"/>
                    <a:pt x="225028" y="291826"/>
                    <a:pt x="225028" y="312539"/>
                  </a:cubicBezTo>
                  <a:cubicBezTo>
                    <a:pt x="225028" y="333252"/>
                    <a:pt x="208237" y="350044"/>
                    <a:pt x="187523" y="350044"/>
                  </a:cubicBezTo>
                  <a:cubicBezTo>
                    <a:pt x="166810" y="350044"/>
                    <a:pt x="150019" y="333252"/>
                    <a:pt x="150019" y="312539"/>
                  </a:cubicBezTo>
                  <a:close/>
                  <a:moveTo>
                    <a:pt x="425053" y="312539"/>
                  </a:moveTo>
                  <a:cubicBezTo>
                    <a:pt x="425053" y="291826"/>
                    <a:pt x="441845" y="275034"/>
                    <a:pt x="462558" y="275034"/>
                  </a:cubicBezTo>
                  <a:cubicBezTo>
                    <a:pt x="483271" y="275034"/>
                    <a:pt x="500062" y="291826"/>
                    <a:pt x="500062" y="312539"/>
                  </a:cubicBezTo>
                  <a:cubicBezTo>
                    <a:pt x="500062" y="333252"/>
                    <a:pt x="483271" y="350044"/>
                    <a:pt x="462558" y="350044"/>
                  </a:cubicBezTo>
                  <a:cubicBezTo>
                    <a:pt x="441845" y="350044"/>
                    <a:pt x="425053" y="333252"/>
                    <a:pt x="425053" y="312539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353348" y="3512344"/>
            <a:ext cx="148530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基础执行层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7326" y="3876675"/>
            <a:ext cx="16373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Mid-small LLMs</a:t>
            </a:r>
          </a:p>
        </p:txBody>
      </p:sp>
      <p:sp>
        <p:nvSpPr>
          <p:cNvPr id="12" name="Line 12"/>
          <p:cNvSpPr/>
          <p:nvPr/>
        </p:nvSpPr>
        <p:spPr>
          <a:xfrm>
            <a:off x="2952750" y="1809750"/>
            <a:ext cx="1905000" cy="838200"/>
          </a:xfrm>
          <a:custGeom>
            <a:avLst/>
            <a:gdLst/>
            <a:ahLst/>
            <a:cxnLst/>
            <a:rect l="l" t="t" r="r" b="b"/>
            <a:pathLst>
              <a:path w="1905000" h="838200">
                <a:moveTo>
                  <a:pt x="1905000" y="8382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13" name="Line 13"/>
          <p:cNvSpPr/>
          <p:nvPr/>
        </p:nvSpPr>
        <p:spPr>
          <a:xfrm>
            <a:off x="7334250" y="1809750"/>
            <a:ext cx="1905000" cy="838200"/>
          </a:xfrm>
          <a:custGeom>
            <a:avLst/>
            <a:gdLst/>
            <a:ahLst/>
            <a:cxnLst/>
            <a:rect l="l" t="t" r="r" b="b"/>
            <a:pathLst>
              <a:path w="1905000" h="838200">
                <a:moveTo>
                  <a:pt x="0" y="83820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14" name="Line 14"/>
          <p:cNvSpPr/>
          <p:nvPr/>
        </p:nvSpPr>
        <p:spPr>
          <a:xfrm>
            <a:off x="2809875" y="4095750"/>
            <a:ext cx="1857375" cy="1000125"/>
          </a:xfrm>
          <a:custGeom>
            <a:avLst/>
            <a:gdLst/>
            <a:ahLst/>
            <a:cxnLst/>
            <a:rect l="l" t="t" r="r" b="b"/>
            <a:pathLst>
              <a:path w="1857375" h="1000125">
                <a:moveTo>
                  <a:pt x="1857375" y="0"/>
                </a:moveTo>
                <a:lnTo>
                  <a:pt x="0" y="1000125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15" name="Line 15"/>
          <p:cNvSpPr/>
          <p:nvPr/>
        </p:nvSpPr>
        <p:spPr>
          <a:xfrm>
            <a:off x="7524750" y="4095750"/>
            <a:ext cx="1857375" cy="1000125"/>
          </a:xfrm>
          <a:custGeom>
            <a:avLst/>
            <a:gdLst/>
            <a:ahLst/>
            <a:cxnLst/>
            <a:rect l="l" t="t" r="r" b="b"/>
            <a:pathLst>
              <a:path w="1857375" h="1000125">
                <a:moveTo>
                  <a:pt x="0" y="0"/>
                </a:moveTo>
                <a:lnTo>
                  <a:pt x="1857375" y="1000125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2405062" y="1462088"/>
            <a:ext cx="371475" cy="314325"/>
            <a:chOff x="2405062" y="1462088"/>
            <a:chExt cx="371475" cy="314325"/>
          </a:xfrm>
        </p:grpSpPr>
        <p:sp>
          <p:nvSpPr>
            <p:cNvPr id="16" name="Freeform 16"/>
            <p:cNvSpPr/>
            <p:nvPr/>
          </p:nvSpPr>
          <p:spPr>
            <a:xfrm>
              <a:off x="2419350" y="1476375"/>
              <a:ext cx="342900" cy="285750"/>
            </a:xfrm>
            <a:custGeom>
              <a:avLst/>
              <a:gdLst/>
              <a:ahLst/>
              <a:cxnLst/>
              <a:rect l="l" t="t" r="r" b="b"/>
              <a:pathLst>
                <a:path w="342900" h="285750">
                  <a:moveTo>
                    <a:pt x="342900" y="14288"/>
                  </a:moveTo>
                  <a:lnTo>
                    <a:pt x="342900" y="285750"/>
                  </a:lnTo>
                  <a:lnTo>
                    <a:pt x="0" y="285750"/>
                  </a:lnTo>
                  <a:lnTo>
                    <a:pt x="0" y="0"/>
                  </a:lnTo>
                  <a:lnTo>
                    <a:pt x="328612" y="0"/>
                  </a:lnTo>
                  <a:cubicBezTo>
                    <a:pt x="336503" y="0"/>
                    <a:pt x="342900" y="6397"/>
                    <a:pt x="342900" y="142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05062" y="1462088"/>
              <a:ext cx="371475" cy="314325"/>
            </a:xfrm>
            <a:custGeom>
              <a:avLst/>
              <a:gdLst/>
              <a:ahLst/>
              <a:cxnLst/>
              <a:rect l="l" t="t" r="r" b="b"/>
              <a:pathLst>
                <a:path w="371475" h="314325">
                  <a:moveTo>
                    <a:pt x="371475" y="300038"/>
                  </a:moveTo>
                  <a:cubicBezTo>
                    <a:pt x="371475" y="307928"/>
                    <a:pt x="365078" y="314325"/>
                    <a:pt x="357188" y="314325"/>
                  </a:cubicBezTo>
                  <a:lnTo>
                    <a:pt x="14288" y="314325"/>
                  </a:lnTo>
                  <a:cubicBezTo>
                    <a:pt x="6397" y="314325"/>
                    <a:pt x="0" y="307928"/>
                    <a:pt x="0" y="30003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lnTo>
                    <a:pt x="28575" y="208401"/>
                  </a:lnTo>
                  <a:lnTo>
                    <a:pt x="118479" y="118479"/>
                  </a:lnTo>
                  <a:cubicBezTo>
                    <a:pt x="121159" y="115796"/>
                    <a:pt x="124795" y="114289"/>
                    <a:pt x="128588" y="114289"/>
                  </a:cubicBezTo>
                  <a:cubicBezTo>
                    <a:pt x="132380" y="114289"/>
                    <a:pt x="136016" y="115796"/>
                    <a:pt x="138696" y="118479"/>
                  </a:cubicBezTo>
                  <a:lnTo>
                    <a:pt x="185738" y="165539"/>
                  </a:lnTo>
                  <a:lnTo>
                    <a:pt x="279839" y="71438"/>
                  </a:lnTo>
                  <a:lnTo>
                    <a:pt x="242888" y="71438"/>
                  </a:lnTo>
                  <a:cubicBezTo>
                    <a:pt x="234997" y="71438"/>
                    <a:pt x="228600" y="65041"/>
                    <a:pt x="228600" y="57150"/>
                  </a:cubicBezTo>
                  <a:cubicBezTo>
                    <a:pt x="228600" y="49259"/>
                    <a:pt x="234997" y="42862"/>
                    <a:pt x="242888" y="42862"/>
                  </a:cubicBezTo>
                  <a:lnTo>
                    <a:pt x="314325" y="42862"/>
                  </a:lnTo>
                  <a:cubicBezTo>
                    <a:pt x="322216" y="42862"/>
                    <a:pt x="328612" y="49259"/>
                    <a:pt x="328612" y="57150"/>
                  </a:cubicBezTo>
                  <a:lnTo>
                    <a:pt x="328612" y="128588"/>
                  </a:lnTo>
                  <a:cubicBezTo>
                    <a:pt x="328612" y="136478"/>
                    <a:pt x="322216" y="142875"/>
                    <a:pt x="314325" y="142875"/>
                  </a:cubicBezTo>
                  <a:cubicBezTo>
                    <a:pt x="306434" y="142875"/>
                    <a:pt x="300038" y="136478"/>
                    <a:pt x="300038" y="128588"/>
                  </a:cubicBezTo>
                  <a:lnTo>
                    <a:pt x="300038" y="91636"/>
                  </a:lnTo>
                  <a:lnTo>
                    <a:pt x="195846" y="195846"/>
                  </a:lnTo>
                  <a:cubicBezTo>
                    <a:pt x="193166" y="198529"/>
                    <a:pt x="189530" y="200036"/>
                    <a:pt x="185738" y="200036"/>
                  </a:cubicBezTo>
                  <a:cubicBezTo>
                    <a:pt x="181945" y="200036"/>
                    <a:pt x="178309" y="198529"/>
                    <a:pt x="175629" y="195846"/>
                  </a:cubicBezTo>
                  <a:lnTo>
                    <a:pt x="128588" y="148786"/>
                  </a:lnTo>
                  <a:lnTo>
                    <a:pt x="28575" y="248799"/>
                  </a:lnTo>
                  <a:lnTo>
                    <a:pt x="28575" y="285750"/>
                  </a:lnTo>
                  <a:lnTo>
                    <a:pt x="357188" y="285750"/>
                  </a:lnTo>
                  <a:cubicBezTo>
                    <a:pt x="365078" y="285750"/>
                    <a:pt x="371475" y="292147"/>
                    <a:pt x="371475" y="300038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2933700" y="14763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低成本高频调用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38462" y="181213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分类、摘要、检索改写、格式校验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832556" y="1474218"/>
            <a:ext cx="430947" cy="317072"/>
            <a:chOff x="8832556" y="1474218"/>
            <a:chExt cx="430947" cy="317072"/>
          </a:xfrm>
        </p:grpSpPr>
        <p:sp>
          <p:nvSpPr>
            <p:cNvPr id="21" name="Freeform 21"/>
            <p:cNvSpPr/>
            <p:nvPr/>
          </p:nvSpPr>
          <p:spPr>
            <a:xfrm>
              <a:off x="8877300" y="1490662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242888" y="157162"/>
                  </a:moveTo>
                  <a:cubicBezTo>
                    <a:pt x="242888" y="196616"/>
                    <a:pt x="210904" y="228600"/>
                    <a:pt x="171450" y="228600"/>
                  </a:cubicBezTo>
                  <a:cubicBezTo>
                    <a:pt x="131996" y="228600"/>
                    <a:pt x="100012" y="196616"/>
                    <a:pt x="100012" y="157162"/>
                  </a:cubicBezTo>
                  <a:cubicBezTo>
                    <a:pt x="100012" y="117709"/>
                    <a:pt x="131996" y="85725"/>
                    <a:pt x="171450" y="85725"/>
                  </a:cubicBezTo>
                  <a:cubicBezTo>
                    <a:pt x="210904" y="85725"/>
                    <a:pt x="242888" y="117709"/>
                    <a:pt x="242888" y="157162"/>
                  </a:cubicBezTo>
                  <a:close/>
                  <a:moveTo>
                    <a:pt x="57150" y="0"/>
                  </a:moveTo>
                  <a:cubicBezTo>
                    <a:pt x="25587" y="0"/>
                    <a:pt x="0" y="25587"/>
                    <a:pt x="0" y="57150"/>
                  </a:cubicBez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lose/>
                  <a:moveTo>
                    <a:pt x="285750" y="0"/>
                  </a:moveTo>
                  <a:cubicBezTo>
                    <a:pt x="254187" y="0"/>
                    <a:pt x="228600" y="25587"/>
                    <a:pt x="228600" y="57150"/>
                  </a:cubicBezTo>
                  <a:cubicBezTo>
                    <a:pt x="228600" y="88713"/>
                    <a:pt x="254187" y="114300"/>
                    <a:pt x="285750" y="114300"/>
                  </a:cubicBezTo>
                  <a:cubicBezTo>
                    <a:pt x="317313" y="114300"/>
                    <a:pt x="342900" y="88713"/>
                    <a:pt x="342900" y="57150"/>
                  </a:cubicBezTo>
                  <a:cubicBezTo>
                    <a:pt x="342900" y="25587"/>
                    <a:pt x="317313" y="0"/>
                    <a:pt x="285750" y="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832556" y="1474218"/>
              <a:ext cx="430947" cy="317072"/>
            </a:xfrm>
            <a:custGeom>
              <a:avLst/>
              <a:gdLst/>
              <a:ahLst/>
              <a:cxnLst/>
              <a:rect l="l" t="t" r="r" b="b"/>
              <a:pathLst>
                <a:path w="430947" h="317072">
                  <a:moveTo>
                    <a:pt x="424792" y="185037"/>
                  </a:moveTo>
                  <a:cubicBezTo>
                    <a:pt x="418479" y="189771"/>
                    <a:pt x="409524" y="188492"/>
                    <a:pt x="404789" y="182179"/>
                  </a:cubicBezTo>
                  <a:cubicBezTo>
                    <a:pt x="387326" y="158705"/>
                    <a:pt x="359752" y="144918"/>
                    <a:pt x="330494" y="145032"/>
                  </a:cubicBezTo>
                  <a:cubicBezTo>
                    <a:pt x="322604" y="145032"/>
                    <a:pt x="316207" y="138635"/>
                    <a:pt x="316207" y="130744"/>
                  </a:cubicBezTo>
                  <a:cubicBezTo>
                    <a:pt x="316207" y="122853"/>
                    <a:pt x="322604" y="116457"/>
                    <a:pt x="330494" y="116457"/>
                  </a:cubicBezTo>
                  <a:cubicBezTo>
                    <a:pt x="352768" y="116455"/>
                    <a:pt x="371329" y="99393"/>
                    <a:pt x="373201" y="77198"/>
                  </a:cubicBezTo>
                  <a:cubicBezTo>
                    <a:pt x="375074" y="55002"/>
                    <a:pt x="359634" y="35072"/>
                    <a:pt x="337676" y="31338"/>
                  </a:cubicBezTo>
                  <a:cubicBezTo>
                    <a:pt x="315717" y="27604"/>
                    <a:pt x="294558" y="41312"/>
                    <a:pt x="288989" y="62878"/>
                  </a:cubicBezTo>
                  <a:cubicBezTo>
                    <a:pt x="287017" y="70523"/>
                    <a:pt x="279220" y="75120"/>
                    <a:pt x="271576" y="73148"/>
                  </a:cubicBezTo>
                  <a:cubicBezTo>
                    <a:pt x="263932" y="71175"/>
                    <a:pt x="259334" y="63379"/>
                    <a:pt x="261307" y="55735"/>
                  </a:cubicBezTo>
                  <a:cubicBezTo>
                    <a:pt x="268937" y="26210"/>
                    <a:pt x="294468" y="4784"/>
                    <a:pt x="324868" y="2392"/>
                  </a:cubicBezTo>
                  <a:cubicBezTo>
                    <a:pt x="355269" y="0"/>
                    <a:pt x="383836" y="17169"/>
                    <a:pt x="395990" y="45137"/>
                  </a:cubicBezTo>
                  <a:cubicBezTo>
                    <a:pt x="408145" y="73105"/>
                    <a:pt x="401205" y="105704"/>
                    <a:pt x="378715" y="126297"/>
                  </a:cubicBezTo>
                  <a:cubicBezTo>
                    <a:pt x="398142" y="134709"/>
                    <a:pt x="415031" y="148057"/>
                    <a:pt x="427703" y="165016"/>
                  </a:cubicBezTo>
                  <a:cubicBezTo>
                    <a:pt x="429976" y="168055"/>
                    <a:pt x="430947" y="171874"/>
                    <a:pt x="430401" y="175630"/>
                  </a:cubicBezTo>
                  <a:cubicBezTo>
                    <a:pt x="429855" y="179386"/>
                    <a:pt x="427837" y="182771"/>
                    <a:pt x="424792" y="185037"/>
                  </a:cubicBezTo>
                  <a:close/>
                  <a:moveTo>
                    <a:pt x="328566" y="295050"/>
                  </a:moveTo>
                  <a:cubicBezTo>
                    <a:pt x="331281" y="299478"/>
                    <a:pt x="331380" y="305031"/>
                    <a:pt x="328823" y="309552"/>
                  </a:cubicBezTo>
                  <a:cubicBezTo>
                    <a:pt x="326267" y="314074"/>
                    <a:pt x="321458" y="316851"/>
                    <a:pt x="316264" y="316807"/>
                  </a:cubicBezTo>
                  <a:cubicBezTo>
                    <a:pt x="311070" y="316762"/>
                    <a:pt x="306309" y="313902"/>
                    <a:pt x="303830" y="309338"/>
                  </a:cubicBezTo>
                  <a:cubicBezTo>
                    <a:pt x="285516" y="278339"/>
                    <a:pt x="252190" y="259321"/>
                    <a:pt x="216185" y="259321"/>
                  </a:cubicBezTo>
                  <a:cubicBezTo>
                    <a:pt x="180181" y="259321"/>
                    <a:pt x="146855" y="278339"/>
                    <a:pt x="128541" y="309338"/>
                  </a:cubicBezTo>
                  <a:cubicBezTo>
                    <a:pt x="126108" y="313988"/>
                    <a:pt x="121322" y="316930"/>
                    <a:pt x="116074" y="317001"/>
                  </a:cubicBezTo>
                  <a:cubicBezTo>
                    <a:pt x="110826" y="317072"/>
                    <a:pt x="105962" y="314261"/>
                    <a:pt x="103405" y="309678"/>
                  </a:cubicBezTo>
                  <a:cubicBezTo>
                    <a:pt x="100847" y="305095"/>
                    <a:pt x="101008" y="299479"/>
                    <a:pt x="103823" y="295050"/>
                  </a:cubicBezTo>
                  <a:cubicBezTo>
                    <a:pt x="117675" y="271251"/>
                    <a:pt x="138795" y="252521"/>
                    <a:pt x="164081" y="241615"/>
                  </a:cubicBezTo>
                  <a:cubicBezTo>
                    <a:pt x="134908" y="219279"/>
                    <a:pt x="123212" y="180836"/>
                    <a:pt x="135004" y="146037"/>
                  </a:cubicBezTo>
                  <a:cubicBezTo>
                    <a:pt x="146796" y="111239"/>
                    <a:pt x="179452" y="87824"/>
                    <a:pt x="216194" y="87824"/>
                  </a:cubicBezTo>
                  <a:cubicBezTo>
                    <a:pt x="252936" y="87824"/>
                    <a:pt x="285593" y="111239"/>
                    <a:pt x="297385" y="146037"/>
                  </a:cubicBezTo>
                  <a:cubicBezTo>
                    <a:pt x="309176" y="180836"/>
                    <a:pt x="297481" y="219279"/>
                    <a:pt x="268308" y="241615"/>
                  </a:cubicBezTo>
                  <a:cubicBezTo>
                    <a:pt x="293593" y="252521"/>
                    <a:pt x="314714" y="271251"/>
                    <a:pt x="328566" y="295050"/>
                  </a:cubicBezTo>
                  <a:close/>
                  <a:moveTo>
                    <a:pt x="216194" y="230757"/>
                  </a:moveTo>
                  <a:cubicBezTo>
                    <a:pt x="247757" y="230757"/>
                    <a:pt x="273344" y="205170"/>
                    <a:pt x="273344" y="173607"/>
                  </a:cubicBezTo>
                  <a:cubicBezTo>
                    <a:pt x="273344" y="142044"/>
                    <a:pt x="247757" y="116457"/>
                    <a:pt x="216194" y="116457"/>
                  </a:cubicBezTo>
                  <a:cubicBezTo>
                    <a:pt x="184631" y="116457"/>
                    <a:pt x="159044" y="142044"/>
                    <a:pt x="159044" y="173607"/>
                  </a:cubicBezTo>
                  <a:cubicBezTo>
                    <a:pt x="159044" y="205170"/>
                    <a:pt x="184631" y="230757"/>
                    <a:pt x="216194" y="230757"/>
                  </a:cubicBezTo>
                  <a:close/>
                  <a:moveTo>
                    <a:pt x="116182" y="130744"/>
                  </a:moveTo>
                  <a:cubicBezTo>
                    <a:pt x="116182" y="122853"/>
                    <a:pt x="109785" y="116457"/>
                    <a:pt x="101894" y="116457"/>
                  </a:cubicBezTo>
                  <a:cubicBezTo>
                    <a:pt x="79620" y="116455"/>
                    <a:pt x="61060" y="99393"/>
                    <a:pt x="59187" y="77198"/>
                  </a:cubicBezTo>
                  <a:cubicBezTo>
                    <a:pt x="57315" y="55002"/>
                    <a:pt x="72754" y="35072"/>
                    <a:pt x="94713" y="31338"/>
                  </a:cubicBezTo>
                  <a:cubicBezTo>
                    <a:pt x="116672" y="27604"/>
                    <a:pt x="137831" y="41312"/>
                    <a:pt x="143400" y="62878"/>
                  </a:cubicBezTo>
                  <a:cubicBezTo>
                    <a:pt x="145372" y="70523"/>
                    <a:pt x="153168" y="75120"/>
                    <a:pt x="160812" y="73148"/>
                  </a:cubicBezTo>
                  <a:cubicBezTo>
                    <a:pt x="168457" y="71175"/>
                    <a:pt x="173054" y="63379"/>
                    <a:pt x="171082" y="55735"/>
                  </a:cubicBezTo>
                  <a:cubicBezTo>
                    <a:pt x="163451" y="26210"/>
                    <a:pt x="137921" y="4784"/>
                    <a:pt x="107520" y="2392"/>
                  </a:cubicBezTo>
                  <a:cubicBezTo>
                    <a:pt x="77120" y="0"/>
                    <a:pt x="48553" y="17169"/>
                    <a:pt x="36398" y="45137"/>
                  </a:cubicBezTo>
                  <a:cubicBezTo>
                    <a:pt x="24244" y="73105"/>
                    <a:pt x="31183" y="105704"/>
                    <a:pt x="53674" y="126297"/>
                  </a:cubicBezTo>
                  <a:cubicBezTo>
                    <a:pt x="34266" y="134717"/>
                    <a:pt x="17397" y="148065"/>
                    <a:pt x="4739" y="165016"/>
                  </a:cubicBezTo>
                  <a:cubicBezTo>
                    <a:pt x="0" y="171329"/>
                    <a:pt x="1275" y="180288"/>
                    <a:pt x="7588" y="185028"/>
                  </a:cubicBezTo>
                  <a:cubicBezTo>
                    <a:pt x="13901" y="189767"/>
                    <a:pt x="22860" y="188492"/>
                    <a:pt x="27599" y="182179"/>
                  </a:cubicBezTo>
                  <a:cubicBezTo>
                    <a:pt x="45063" y="158705"/>
                    <a:pt x="72637" y="144918"/>
                    <a:pt x="101894" y="145032"/>
                  </a:cubicBezTo>
                  <a:cubicBezTo>
                    <a:pt x="109785" y="145032"/>
                    <a:pt x="116182" y="138635"/>
                    <a:pt x="116182" y="13074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9372600" y="14763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角色专用化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77362" y="18121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规划、执行、评审、安全过滤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217259" y="4929188"/>
            <a:ext cx="435453" cy="314325"/>
            <a:chOff x="2217259" y="4929188"/>
            <a:chExt cx="435453" cy="314325"/>
          </a:xfrm>
        </p:grpSpPr>
        <p:sp>
          <p:nvSpPr>
            <p:cNvPr id="26" name="Freeform 26"/>
            <p:cNvSpPr/>
            <p:nvPr/>
          </p:nvSpPr>
          <p:spPr>
            <a:xfrm>
              <a:off x="2231532" y="4933091"/>
              <a:ext cx="406893" cy="296134"/>
            </a:xfrm>
            <a:custGeom>
              <a:avLst/>
              <a:gdLst/>
              <a:ahLst/>
              <a:cxnLst/>
              <a:rect l="l" t="t" r="r" b="b"/>
              <a:pathLst>
                <a:path w="406893" h="296134">
                  <a:moveTo>
                    <a:pt x="406893" y="153259"/>
                  </a:moveTo>
                  <a:cubicBezTo>
                    <a:pt x="406893" y="232167"/>
                    <a:pt x="342925" y="296134"/>
                    <a:pt x="264018" y="296134"/>
                  </a:cubicBezTo>
                  <a:lnTo>
                    <a:pt x="106855" y="296134"/>
                  </a:lnTo>
                  <a:cubicBezTo>
                    <a:pt x="68145" y="296086"/>
                    <a:pt x="32939" y="273704"/>
                    <a:pt x="16469" y="238673"/>
                  </a:cubicBezTo>
                  <a:cubicBezTo>
                    <a:pt x="0" y="203641"/>
                    <a:pt x="5225" y="162251"/>
                    <a:pt x="29885" y="132411"/>
                  </a:cubicBezTo>
                  <a:cubicBezTo>
                    <a:pt x="54544" y="102572"/>
                    <a:pt x="94208" y="89642"/>
                    <a:pt x="131716" y="99217"/>
                  </a:cubicBezTo>
                  <a:lnTo>
                    <a:pt x="131716" y="99395"/>
                  </a:lnTo>
                  <a:cubicBezTo>
                    <a:pt x="157500" y="36151"/>
                    <a:pt x="224438" y="0"/>
                    <a:pt x="291464" y="13120"/>
                  </a:cubicBezTo>
                  <a:cubicBezTo>
                    <a:pt x="358489" y="26240"/>
                    <a:pt x="406857" y="84961"/>
                    <a:pt x="406893" y="153259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217259" y="4929188"/>
              <a:ext cx="435453" cy="314325"/>
            </a:xfrm>
            <a:custGeom>
              <a:avLst/>
              <a:gdLst/>
              <a:ahLst/>
              <a:cxnLst/>
              <a:rect l="l" t="t" r="r" b="b"/>
              <a:pathLst>
                <a:path w="435453" h="314325">
                  <a:moveTo>
                    <a:pt x="278291" y="0"/>
                  </a:moveTo>
                  <a:cubicBezTo>
                    <a:pt x="218763" y="46"/>
                    <a:pt x="164358" y="33686"/>
                    <a:pt x="137720" y="86922"/>
                  </a:cubicBezTo>
                  <a:cubicBezTo>
                    <a:pt x="95366" y="80745"/>
                    <a:pt x="53111" y="98748"/>
                    <a:pt x="28226" y="133573"/>
                  </a:cubicBezTo>
                  <a:cubicBezTo>
                    <a:pt x="3342" y="168398"/>
                    <a:pt x="0" y="214207"/>
                    <a:pt x="19566" y="252275"/>
                  </a:cubicBezTo>
                  <a:cubicBezTo>
                    <a:pt x="39132" y="290343"/>
                    <a:pt x="78327" y="314289"/>
                    <a:pt x="121128" y="314325"/>
                  </a:cubicBezTo>
                  <a:lnTo>
                    <a:pt x="278291" y="314325"/>
                  </a:lnTo>
                  <a:cubicBezTo>
                    <a:pt x="365089" y="314325"/>
                    <a:pt x="435453" y="243961"/>
                    <a:pt x="435453" y="157162"/>
                  </a:cubicBezTo>
                  <a:cubicBezTo>
                    <a:pt x="435453" y="70364"/>
                    <a:pt x="365089" y="0"/>
                    <a:pt x="278291" y="0"/>
                  </a:cubicBezTo>
                  <a:close/>
                  <a:moveTo>
                    <a:pt x="278291" y="285750"/>
                  </a:moveTo>
                  <a:lnTo>
                    <a:pt x="121128" y="285750"/>
                  </a:lnTo>
                  <a:cubicBezTo>
                    <a:pt x="73784" y="285750"/>
                    <a:pt x="35403" y="247370"/>
                    <a:pt x="35403" y="200025"/>
                  </a:cubicBezTo>
                  <a:cubicBezTo>
                    <a:pt x="35403" y="152680"/>
                    <a:pt x="73784" y="114300"/>
                    <a:pt x="121128" y="114300"/>
                  </a:cubicBezTo>
                  <a:cubicBezTo>
                    <a:pt x="123093" y="114300"/>
                    <a:pt x="125057" y="114300"/>
                    <a:pt x="127004" y="114496"/>
                  </a:cubicBezTo>
                  <a:cubicBezTo>
                    <a:pt x="123097" y="128381"/>
                    <a:pt x="121120" y="142738"/>
                    <a:pt x="121128" y="157162"/>
                  </a:cubicBezTo>
                  <a:cubicBezTo>
                    <a:pt x="121128" y="165053"/>
                    <a:pt x="127525" y="171450"/>
                    <a:pt x="135416" y="171450"/>
                  </a:cubicBezTo>
                  <a:cubicBezTo>
                    <a:pt x="143307" y="171450"/>
                    <a:pt x="149703" y="165053"/>
                    <a:pt x="149703" y="157162"/>
                  </a:cubicBezTo>
                  <a:cubicBezTo>
                    <a:pt x="149703" y="86146"/>
                    <a:pt x="207274" y="28575"/>
                    <a:pt x="278291" y="28575"/>
                  </a:cubicBezTo>
                  <a:cubicBezTo>
                    <a:pt x="349308" y="28575"/>
                    <a:pt x="406878" y="86146"/>
                    <a:pt x="406878" y="157162"/>
                  </a:cubicBezTo>
                  <a:cubicBezTo>
                    <a:pt x="406878" y="228179"/>
                    <a:pt x="349308" y="285750"/>
                    <a:pt x="278291" y="285750"/>
                  </a:cubicBezTo>
                  <a:close/>
                  <a:moveTo>
                    <a:pt x="345549" y="118479"/>
                  </a:moveTo>
                  <a:cubicBezTo>
                    <a:pt x="348232" y="121159"/>
                    <a:pt x="349740" y="124795"/>
                    <a:pt x="349740" y="128588"/>
                  </a:cubicBezTo>
                  <a:cubicBezTo>
                    <a:pt x="349740" y="132380"/>
                    <a:pt x="348232" y="136016"/>
                    <a:pt x="345549" y="138696"/>
                  </a:cubicBezTo>
                  <a:lnTo>
                    <a:pt x="259824" y="224421"/>
                  </a:lnTo>
                  <a:cubicBezTo>
                    <a:pt x="257144" y="227104"/>
                    <a:pt x="253508" y="228611"/>
                    <a:pt x="249716" y="228611"/>
                  </a:cubicBezTo>
                  <a:cubicBezTo>
                    <a:pt x="245924" y="228611"/>
                    <a:pt x="242287" y="227104"/>
                    <a:pt x="239607" y="224421"/>
                  </a:cubicBezTo>
                  <a:lnTo>
                    <a:pt x="196745" y="181558"/>
                  </a:lnTo>
                  <a:cubicBezTo>
                    <a:pt x="191162" y="175976"/>
                    <a:pt x="191162" y="166924"/>
                    <a:pt x="196745" y="161342"/>
                  </a:cubicBezTo>
                  <a:cubicBezTo>
                    <a:pt x="202328" y="155759"/>
                    <a:pt x="211379" y="155759"/>
                    <a:pt x="216962" y="161342"/>
                  </a:cubicBezTo>
                  <a:lnTo>
                    <a:pt x="249716" y="194114"/>
                  </a:lnTo>
                  <a:lnTo>
                    <a:pt x="325332" y="118479"/>
                  </a:lnTo>
                  <a:cubicBezTo>
                    <a:pt x="328012" y="115796"/>
                    <a:pt x="331649" y="114289"/>
                    <a:pt x="335441" y="114289"/>
                  </a:cubicBezTo>
                  <a:cubicBezTo>
                    <a:pt x="339233" y="114289"/>
                    <a:pt x="342869" y="115796"/>
                    <a:pt x="345549" y="118479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2781300" y="49434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私有化与边缘部署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86062" y="52792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本地服务器、端侧、弱网环境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29700" y="4929188"/>
            <a:ext cx="342900" cy="357674"/>
            <a:chOff x="9029700" y="4929188"/>
            <a:chExt cx="342900" cy="357674"/>
          </a:xfrm>
        </p:grpSpPr>
        <p:sp>
          <p:nvSpPr>
            <p:cNvPr id="31" name="Freeform 31"/>
            <p:cNvSpPr/>
            <p:nvPr/>
          </p:nvSpPr>
          <p:spPr>
            <a:xfrm>
              <a:off x="9043988" y="4943475"/>
              <a:ext cx="314325" cy="328827"/>
            </a:xfrm>
            <a:custGeom>
              <a:avLst/>
              <a:gdLst/>
              <a:ahLst/>
              <a:cxnLst/>
              <a:rect l="l" t="t" r="r" b="b"/>
              <a:pathLst>
                <a:path w="314325" h="328827">
                  <a:moveTo>
                    <a:pt x="314325" y="14288"/>
                  </a:moveTo>
                  <a:lnTo>
                    <a:pt x="314325" y="119247"/>
                  </a:lnTo>
                  <a:cubicBezTo>
                    <a:pt x="314325" y="269587"/>
                    <a:pt x="186970" y="319397"/>
                    <a:pt x="161556" y="327845"/>
                  </a:cubicBezTo>
                  <a:cubicBezTo>
                    <a:pt x="158709" y="328827"/>
                    <a:pt x="155616" y="328827"/>
                    <a:pt x="152769" y="327845"/>
                  </a:cubicBezTo>
                  <a:cubicBezTo>
                    <a:pt x="127355" y="319433"/>
                    <a:pt x="0" y="269677"/>
                    <a:pt x="0" y="119283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lnTo>
                    <a:pt x="300038" y="0"/>
                  </a:lnTo>
                  <a:cubicBezTo>
                    <a:pt x="307928" y="0"/>
                    <a:pt x="314325" y="6397"/>
                    <a:pt x="314325" y="142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29700" y="4929188"/>
              <a:ext cx="342900" cy="357674"/>
            </a:xfrm>
            <a:custGeom>
              <a:avLst/>
              <a:gdLst/>
              <a:ahLst/>
              <a:cxnLst/>
              <a:rect l="l" t="t" r="r" b="b"/>
              <a:pathLst>
                <a:path w="342900" h="357674">
                  <a:moveTo>
                    <a:pt x="314325" y="0"/>
                  </a:moveTo>
                  <a:lnTo>
                    <a:pt x="28575" y="0"/>
                  </a:lnTo>
                  <a:cubicBezTo>
                    <a:pt x="12793" y="0"/>
                    <a:pt x="0" y="12793"/>
                    <a:pt x="0" y="28575"/>
                  </a:cubicBezTo>
                  <a:lnTo>
                    <a:pt x="0" y="133552"/>
                  </a:lnTo>
                  <a:cubicBezTo>
                    <a:pt x="0" y="293590"/>
                    <a:pt x="135410" y="346686"/>
                    <a:pt x="162520" y="355705"/>
                  </a:cubicBezTo>
                  <a:cubicBezTo>
                    <a:pt x="168311" y="357674"/>
                    <a:pt x="174589" y="357674"/>
                    <a:pt x="180380" y="355705"/>
                  </a:cubicBezTo>
                  <a:cubicBezTo>
                    <a:pt x="207526" y="346686"/>
                    <a:pt x="342900" y="293590"/>
                    <a:pt x="342900" y="133552"/>
                  </a:cubicBezTo>
                  <a:lnTo>
                    <a:pt x="342900" y="28575"/>
                  </a:lnTo>
                  <a:cubicBezTo>
                    <a:pt x="342900" y="12793"/>
                    <a:pt x="330107" y="0"/>
                    <a:pt x="314325" y="0"/>
                  </a:cubicBezTo>
                  <a:close/>
                  <a:moveTo>
                    <a:pt x="314325" y="133570"/>
                  </a:moveTo>
                  <a:cubicBezTo>
                    <a:pt x="314325" y="273623"/>
                    <a:pt x="195828" y="320415"/>
                    <a:pt x="171450" y="328559"/>
                  </a:cubicBezTo>
                  <a:cubicBezTo>
                    <a:pt x="147286" y="320504"/>
                    <a:pt x="28575" y="273749"/>
                    <a:pt x="28575" y="133570"/>
                  </a:cubicBezTo>
                  <a:lnTo>
                    <a:pt x="28575" y="28575"/>
                  </a:lnTo>
                  <a:lnTo>
                    <a:pt x="314325" y="28575"/>
                  </a:lnTo>
                  <a:close/>
                  <a:moveTo>
                    <a:pt x="89904" y="181558"/>
                  </a:moveTo>
                  <a:cubicBezTo>
                    <a:pt x="84321" y="175976"/>
                    <a:pt x="84321" y="166924"/>
                    <a:pt x="89904" y="161342"/>
                  </a:cubicBezTo>
                  <a:cubicBezTo>
                    <a:pt x="95487" y="155759"/>
                    <a:pt x="104538" y="155759"/>
                    <a:pt x="110121" y="161342"/>
                  </a:cubicBezTo>
                  <a:lnTo>
                    <a:pt x="142875" y="194096"/>
                  </a:lnTo>
                  <a:lnTo>
                    <a:pt x="232779" y="104192"/>
                  </a:lnTo>
                  <a:cubicBezTo>
                    <a:pt x="238362" y="98609"/>
                    <a:pt x="247413" y="98609"/>
                    <a:pt x="252996" y="104192"/>
                  </a:cubicBezTo>
                  <a:cubicBezTo>
                    <a:pt x="258579" y="109774"/>
                    <a:pt x="258579" y="118826"/>
                    <a:pt x="252996" y="124408"/>
                  </a:cubicBezTo>
                  <a:lnTo>
                    <a:pt x="152983" y="224421"/>
                  </a:lnTo>
                  <a:cubicBezTo>
                    <a:pt x="150304" y="227104"/>
                    <a:pt x="146667" y="228611"/>
                    <a:pt x="142875" y="228611"/>
                  </a:cubicBezTo>
                  <a:cubicBezTo>
                    <a:pt x="139083" y="228611"/>
                    <a:pt x="135446" y="227104"/>
                    <a:pt x="132767" y="22442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9544050" y="49434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可控与安全治理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48812" y="52792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权限、审计、人工复核和升级</a:t>
            </a:r>
          </a:p>
        </p:txBody>
      </p:sp>
      <p:sp>
        <p:nvSpPr>
          <p:cNvPr id="36" name="Freeform 36"/>
          <p:cNvSpPr/>
          <p:nvPr/>
        </p:nvSpPr>
        <p:spPr>
          <a:xfrm>
            <a:off x="4533900" y="5753100"/>
            <a:ext cx="3124200" cy="400050"/>
          </a:xfrm>
          <a:custGeom>
            <a:avLst/>
            <a:gdLst/>
            <a:ahLst/>
            <a:cxnLst/>
            <a:rect l="l" t="t" r="r" b="b"/>
            <a:pathLst>
              <a:path w="3124200" h="400050">
                <a:moveTo>
                  <a:pt x="200025" y="0"/>
                </a:moveTo>
                <a:lnTo>
                  <a:pt x="2924175" y="0"/>
                </a:lnTo>
                <a:cubicBezTo>
                  <a:pt x="3034646" y="0"/>
                  <a:pt x="3124200" y="89554"/>
                  <a:pt x="3124200" y="200025"/>
                </a:cubicBezTo>
                <a:lnTo>
                  <a:pt x="3124200" y="200025"/>
                </a:lnTo>
                <a:cubicBezTo>
                  <a:pt x="3124200" y="310496"/>
                  <a:pt x="3034646" y="400050"/>
                  <a:pt x="292417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81763" y="5857875"/>
            <a:ext cx="30284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系统分工优先于模型大小竞争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 / 10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71036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四类核心作用：成本、角色、部署、治理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8763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42900"/>
                </a:lnTo>
                <a:cubicBezTo>
                  <a:pt x="11125200" y="406026"/>
                  <a:pt x="11074026" y="457200"/>
                  <a:pt x="110109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009650"/>
            <a:ext cx="77276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中小模型最适合“高频、明确、可编排、可治理”的节点，而不是所有复杂任务。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66750" y="1714500"/>
            <a:ext cx="5143500" cy="1714500"/>
            <a:chOff x="666750" y="1714500"/>
            <a:chExt cx="5143500" cy="1714500"/>
          </a:xfrm>
        </p:grpSpPr>
        <p:sp>
          <p:nvSpPr>
            <p:cNvPr id="6" name="Freeform 6"/>
            <p:cNvSpPr/>
            <p:nvPr/>
          </p:nvSpPr>
          <p:spPr>
            <a:xfrm>
              <a:off x="666750" y="171450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74527" y="2049661"/>
              <a:ext cx="355997" cy="301228"/>
              <a:chOff x="974527" y="2049661"/>
              <a:chExt cx="355997" cy="30122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88219" y="2063353"/>
                <a:ext cx="328612" cy="273844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73844">
                    <a:moveTo>
                      <a:pt x="328612" y="13692"/>
                    </a:moveTo>
                    <a:lnTo>
                      <a:pt x="328612" y="273844"/>
                    </a:lnTo>
                    <a:lnTo>
                      <a:pt x="0" y="273844"/>
                    </a:lnTo>
                    <a:lnTo>
                      <a:pt x="0" y="0"/>
                    </a:lnTo>
                    <a:lnTo>
                      <a:pt x="314920" y="0"/>
                    </a:lnTo>
                    <a:cubicBezTo>
                      <a:pt x="322482" y="0"/>
                      <a:pt x="328612" y="6130"/>
                      <a:pt x="328612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4527" y="2049661"/>
                <a:ext cx="355997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355997" h="301228">
                    <a:moveTo>
                      <a:pt x="355997" y="287536"/>
                    </a:moveTo>
                    <a:cubicBezTo>
                      <a:pt x="355997" y="295098"/>
                      <a:pt x="349867" y="301228"/>
                      <a:pt x="342305" y="301228"/>
                    </a:cubicBezTo>
                    <a:lnTo>
                      <a:pt x="13692" y="301228"/>
                    </a:lnTo>
                    <a:cubicBezTo>
                      <a:pt x="6130" y="301228"/>
                      <a:pt x="0" y="295098"/>
                      <a:pt x="0" y="287536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cubicBezTo>
                      <a:pt x="21254" y="0"/>
                      <a:pt x="27384" y="6130"/>
                      <a:pt x="27384" y="13692"/>
                    </a:cubicBezTo>
                    <a:lnTo>
                      <a:pt x="27384" y="199718"/>
                    </a:lnTo>
                    <a:lnTo>
                      <a:pt x="113542" y="113542"/>
                    </a:lnTo>
                    <a:cubicBezTo>
                      <a:pt x="116111" y="110971"/>
                      <a:pt x="119596" y="109527"/>
                      <a:pt x="123230" y="109527"/>
                    </a:cubicBezTo>
                    <a:cubicBezTo>
                      <a:pt x="126864" y="109527"/>
                      <a:pt x="130349" y="110971"/>
                      <a:pt x="132917" y="113542"/>
                    </a:cubicBezTo>
                    <a:lnTo>
                      <a:pt x="177998" y="158641"/>
                    </a:lnTo>
                    <a:lnTo>
                      <a:pt x="268179" y="68461"/>
                    </a:lnTo>
                    <a:lnTo>
                      <a:pt x="232767" y="68461"/>
                    </a:lnTo>
                    <a:cubicBezTo>
                      <a:pt x="225205" y="68461"/>
                      <a:pt x="219075" y="62331"/>
                      <a:pt x="219075" y="54769"/>
                    </a:cubicBezTo>
                    <a:cubicBezTo>
                      <a:pt x="219075" y="47207"/>
                      <a:pt x="225205" y="41077"/>
                      <a:pt x="232767" y="41077"/>
                    </a:cubicBezTo>
                    <a:lnTo>
                      <a:pt x="301228" y="41077"/>
                    </a:lnTo>
                    <a:cubicBezTo>
                      <a:pt x="308790" y="41077"/>
                      <a:pt x="314920" y="47207"/>
                      <a:pt x="314920" y="54769"/>
                    </a:cubicBezTo>
                    <a:lnTo>
                      <a:pt x="314920" y="123230"/>
                    </a:lnTo>
                    <a:cubicBezTo>
                      <a:pt x="314920" y="130792"/>
                      <a:pt x="308790" y="136922"/>
                      <a:pt x="301228" y="136922"/>
                    </a:cubicBezTo>
                    <a:cubicBezTo>
                      <a:pt x="293666" y="136922"/>
                      <a:pt x="287536" y="130792"/>
                      <a:pt x="287536" y="123230"/>
                    </a:cubicBezTo>
                    <a:lnTo>
                      <a:pt x="287536" y="87818"/>
                    </a:lnTo>
                    <a:lnTo>
                      <a:pt x="187686" y="187686"/>
                    </a:lnTo>
                    <a:cubicBezTo>
                      <a:pt x="185117" y="190257"/>
                      <a:pt x="181632" y="191701"/>
                      <a:pt x="177998" y="191701"/>
                    </a:cubicBezTo>
                    <a:cubicBezTo>
                      <a:pt x="174364" y="191701"/>
                      <a:pt x="170879" y="190257"/>
                      <a:pt x="168311" y="187686"/>
                    </a:cubicBezTo>
                    <a:lnTo>
                      <a:pt x="123230" y="142587"/>
                    </a:lnTo>
                    <a:lnTo>
                      <a:pt x="27384" y="238432"/>
                    </a:lnTo>
                    <a:lnTo>
                      <a:pt x="27384" y="273844"/>
                    </a:lnTo>
                    <a:lnTo>
                      <a:pt x="342305" y="273844"/>
                    </a:lnTo>
                    <a:cubicBezTo>
                      <a:pt x="349867" y="273844"/>
                      <a:pt x="355997" y="279974"/>
                      <a:pt x="355997" y="28753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519238" y="2035969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成本与时延优化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4400" y="2562225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承担分类、摘要、检索改写等高频短任务，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4400" y="2847975"/>
              <a:ext cx="3762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减少每一步都调用超大模型的必要性。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81750" y="1714500"/>
            <a:ext cx="5143500" cy="1714500"/>
            <a:chOff x="6381750" y="1714500"/>
            <a:chExt cx="5143500" cy="1714500"/>
          </a:xfrm>
        </p:grpSpPr>
        <p:sp>
          <p:nvSpPr>
            <p:cNvPr id="14" name="Freeform 14"/>
            <p:cNvSpPr/>
            <p:nvPr/>
          </p:nvSpPr>
          <p:spPr>
            <a:xfrm>
              <a:off x="6381750" y="171450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660339" y="2061286"/>
              <a:ext cx="412991" cy="303861"/>
              <a:chOff x="6660339" y="2061286"/>
              <a:chExt cx="412991" cy="30386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703219" y="2077045"/>
                <a:ext cx="328612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19075">
                    <a:moveTo>
                      <a:pt x="232767" y="150614"/>
                    </a:moveTo>
                    <a:cubicBezTo>
                      <a:pt x="232767" y="188424"/>
                      <a:pt x="202116" y="219075"/>
                      <a:pt x="164306" y="219075"/>
                    </a:cubicBezTo>
                    <a:cubicBezTo>
                      <a:pt x="126496" y="219075"/>
                      <a:pt x="95845" y="188424"/>
                      <a:pt x="95845" y="150614"/>
                    </a:cubicBezTo>
                    <a:cubicBezTo>
                      <a:pt x="95845" y="112804"/>
                      <a:pt x="126496" y="82153"/>
                      <a:pt x="164306" y="82153"/>
                    </a:cubicBezTo>
                    <a:cubicBezTo>
                      <a:pt x="202116" y="82153"/>
                      <a:pt x="232767" y="112804"/>
                      <a:pt x="232767" y="150614"/>
                    </a:cubicBezTo>
                    <a:close/>
                    <a:moveTo>
                      <a:pt x="54769" y="0"/>
                    </a:moveTo>
                    <a:cubicBezTo>
                      <a:pt x="24521" y="0"/>
                      <a:pt x="0" y="24521"/>
                      <a:pt x="0" y="54769"/>
                    </a:cubicBezTo>
                    <a:cubicBezTo>
                      <a:pt x="0" y="85017"/>
                      <a:pt x="24521" y="109538"/>
                      <a:pt x="54769" y="109538"/>
                    </a:cubicBezTo>
                    <a:cubicBezTo>
                      <a:pt x="85017" y="109538"/>
                      <a:pt x="109538" y="85017"/>
                      <a:pt x="109538" y="54769"/>
                    </a:cubicBezTo>
                    <a:cubicBezTo>
                      <a:pt x="109538" y="24521"/>
                      <a:pt x="85017" y="0"/>
                      <a:pt x="54769" y="0"/>
                    </a:cubicBezTo>
                    <a:close/>
                    <a:moveTo>
                      <a:pt x="273844" y="0"/>
                    </a:moveTo>
                    <a:cubicBezTo>
                      <a:pt x="243596" y="0"/>
                      <a:pt x="219075" y="24521"/>
                      <a:pt x="219075" y="54769"/>
                    </a:cubicBezTo>
                    <a:cubicBezTo>
                      <a:pt x="219075" y="85017"/>
                      <a:pt x="243596" y="109538"/>
                      <a:pt x="273844" y="109538"/>
                    </a:cubicBezTo>
                    <a:cubicBezTo>
                      <a:pt x="304092" y="109538"/>
                      <a:pt x="328612" y="85017"/>
                      <a:pt x="328612" y="54769"/>
                    </a:cubicBezTo>
                    <a:cubicBezTo>
                      <a:pt x="328612" y="24521"/>
                      <a:pt x="304092" y="0"/>
                      <a:pt x="273844" y="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660339" y="2061286"/>
                <a:ext cx="412991" cy="303861"/>
              </a:xfrm>
              <a:custGeom>
                <a:avLst/>
                <a:gdLst/>
                <a:ahLst/>
                <a:cxnLst/>
                <a:rect l="l" t="t" r="r" b="b"/>
                <a:pathLst>
                  <a:path w="412991" h="303861">
                    <a:moveTo>
                      <a:pt x="407092" y="177327"/>
                    </a:moveTo>
                    <a:cubicBezTo>
                      <a:pt x="401043" y="181864"/>
                      <a:pt x="392460" y="180638"/>
                      <a:pt x="387923" y="174588"/>
                    </a:cubicBezTo>
                    <a:cubicBezTo>
                      <a:pt x="371187" y="152092"/>
                      <a:pt x="344763" y="138880"/>
                      <a:pt x="316724" y="138989"/>
                    </a:cubicBezTo>
                    <a:cubicBezTo>
                      <a:pt x="309162" y="138989"/>
                      <a:pt x="303032" y="132858"/>
                      <a:pt x="303032" y="125296"/>
                    </a:cubicBezTo>
                    <a:cubicBezTo>
                      <a:pt x="303032" y="117734"/>
                      <a:pt x="309162" y="111604"/>
                      <a:pt x="316724" y="111604"/>
                    </a:cubicBezTo>
                    <a:cubicBezTo>
                      <a:pt x="338070" y="111602"/>
                      <a:pt x="355857" y="95251"/>
                      <a:pt x="357651" y="73981"/>
                    </a:cubicBezTo>
                    <a:cubicBezTo>
                      <a:pt x="359446" y="52711"/>
                      <a:pt x="344650" y="33611"/>
                      <a:pt x="323606" y="30032"/>
                    </a:cubicBezTo>
                    <a:cubicBezTo>
                      <a:pt x="302562" y="26454"/>
                      <a:pt x="282284" y="39590"/>
                      <a:pt x="276948" y="60259"/>
                    </a:cubicBezTo>
                    <a:cubicBezTo>
                      <a:pt x="275057" y="67584"/>
                      <a:pt x="267586" y="71990"/>
                      <a:pt x="260261" y="70100"/>
                    </a:cubicBezTo>
                    <a:cubicBezTo>
                      <a:pt x="252935" y="68209"/>
                      <a:pt x="248529" y="60738"/>
                      <a:pt x="250419" y="53412"/>
                    </a:cubicBezTo>
                    <a:cubicBezTo>
                      <a:pt x="257732" y="25118"/>
                      <a:pt x="282198" y="4585"/>
                      <a:pt x="311332" y="2292"/>
                    </a:cubicBezTo>
                    <a:cubicBezTo>
                      <a:pt x="340466" y="0"/>
                      <a:pt x="367843" y="16454"/>
                      <a:pt x="379491" y="43256"/>
                    </a:cubicBezTo>
                    <a:cubicBezTo>
                      <a:pt x="391138" y="70059"/>
                      <a:pt x="384489" y="101299"/>
                      <a:pt x="362935" y="121035"/>
                    </a:cubicBezTo>
                    <a:cubicBezTo>
                      <a:pt x="381553" y="129096"/>
                      <a:pt x="397738" y="141888"/>
                      <a:pt x="409882" y="158141"/>
                    </a:cubicBezTo>
                    <a:cubicBezTo>
                      <a:pt x="412061" y="161053"/>
                      <a:pt x="412991" y="164713"/>
                      <a:pt x="412468" y="168312"/>
                    </a:cubicBezTo>
                    <a:cubicBezTo>
                      <a:pt x="411944" y="171912"/>
                      <a:pt x="410010" y="175155"/>
                      <a:pt x="407092" y="177327"/>
                    </a:cubicBezTo>
                    <a:close/>
                    <a:moveTo>
                      <a:pt x="314875" y="282757"/>
                    </a:moveTo>
                    <a:cubicBezTo>
                      <a:pt x="317478" y="287000"/>
                      <a:pt x="317572" y="292321"/>
                      <a:pt x="315122" y="296654"/>
                    </a:cubicBezTo>
                    <a:cubicBezTo>
                      <a:pt x="312672" y="300987"/>
                      <a:pt x="308063" y="303649"/>
                      <a:pt x="303086" y="303607"/>
                    </a:cubicBezTo>
                    <a:cubicBezTo>
                      <a:pt x="298108" y="303564"/>
                      <a:pt x="293546" y="300823"/>
                      <a:pt x="291171" y="296449"/>
                    </a:cubicBezTo>
                    <a:cubicBezTo>
                      <a:pt x="273620" y="266742"/>
                      <a:pt x="241682" y="248516"/>
                      <a:pt x="207178" y="248516"/>
                    </a:cubicBezTo>
                    <a:cubicBezTo>
                      <a:pt x="172674" y="248516"/>
                      <a:pt x="140736" y="266742"/>
                      <a:pt x="123185" y="296449"/>
                    </a:cubicBezTo>
                    <a:cubicBezTo>
                      <a:pt x="120853" y="300905"/>
                      <a:pt x="116267" y="303725"/>
                      <a:pt x="111238" y="303793"/>
                    </a:cubicBezTo>
                    <a:cubicBezTo>
                      <a:pt x="106209" y="303861"/>
                      <a:pt x="101547" y="301167"/>
                      <a:pt x="99096" y="296775"/>
                    </a:cubicBezTo>
                    <a:cubicBezTo>
                      <a:pt x="96645" y="292383"/>
                      <a:pt x="96799" y="287001"/>
                      <a:pt x="99497" y="282757"/>
                    </a:cubicBezTo>
                    <a:cubicBezTo>
                      <a:pt x="112772" y="259948"/>
                      <a:pt x="133012" y="242000"/>
                      <a:pt x="157244" y="231548"/>
                    </a:cubicBezTo>
                    <a:cubicBezTo>
                      <a:pt x="129286" y="210142"/>
                      <a:pt x="118078" y="173301"/>
                      <a:pt x="129379" y="139952"/>
                    </a:cubicBezTo>
                    <a:cubicBezTo>
                      <a:pt x="140679" y="106604"/>
                      <a:pt x="171975" y="84165"/>
                      <a:pt x="207186" y="84165"/>
                    </a:cubicBezTo>
                    <a:cubicBezTo>
                      <a:pt x="242397" y="84165"/>
                      <a:pt x="273693" y="106604"/>
                      <a:pt x="284994" y="139952"/>
                    </a:cubicBezTo>
                    <a:cubicBezTo>
                      <a:pt x="296294" y="173301"/>
                      <a:pt x="285086" y="210142"/>
                      <a:pt x="257129" y="231548"/>
                    </a:cubicBezTo>
                    <a:cubicBezTo>
                      <a:pt x="281360" y="242000"/>
                      <a:pt x="301601" y="259948"/>
                      <a:pt x="314875" y="282757"/>
                    </a:cubicBezTo>
                    <a:close/>
                    <a:moveTo>
                      <a:pt x="207186" y="221142"/>
                    </a:moveTo>
                    <a:cubicBezTo>
                      <a:pt x="237434" y="221142"/>
                      <a:pt x="261955" y="196621"/>
                      <a:pt x="261955" y="166373"/>
                    </a:cubicBezTo>
                    <a:cubicBezTo>
                      <a:pt x="261955" y="136125"/>
                      <a:pt x="237434" y="111604"/>
                      <a:pt x="207186" y="111604"/>
                    </a:cubicBezTo>
                    <a:cubicBezTo>
                      <a:pt x="176938" y="111604"/>
                      <a:pt x="152418" y="136125"/>
                      <a:pt x="152418" y="166373"/>
                    </a:cubicBezTo>
                    <a:cubicBezTo>
                      <a:pt x="152418" y="196621"/>
                      <a:pt x="176938" y="221142"/>
                      <a:pt x="207186" y="221142"/>
                    </a:cubicBezTo>
                    <a:close/>
                    <a:moveTo>
                      <a:pt x="111341" y="125296"/>
                    </a:moveTo>
                    <a:cubicBezTo>
                      <a:pt x="111341" y="117734"/>
                      <a:pt x="105211" y="111604"/>
                      <a:pt x="97649" y="111604"/>
                    </a:cubicBezTo>
                    <a:cubicBezTo>
                      <a:pt x="76303" y="111602"/>
                      <a:pt x="58516" y="95251"/>
                      <a:pt x="56721" y="73981"/>
                    </a:cubicBezTo>
                    <a:cubicBezTo>
                      <a:pt x="54927" y="52711"/>
                      <a:pt x="69723" y="33611"/>
                      <a:pt x="90767" y="30032"/>
                    </a:cubicBezTo>
                    <a:cubicBezTo>
                      <a:pt x="111811" y="26454"/>
                      <a:pt x="132088" y="39590"/>
                      <a:pt x="137425" y="60259"/>
                    </a:cubicBezTo>
                    <a:cubicBezTo>
                      <a:pt x="139315" y="67584"/>
                      <a:pt x="146786" y="71990"/>
                      <a:pt x="154112" y="70100"/>
                    </a:cubicBezTo>
                    <a:cubicBezTo>
                      <a:pt x="161438" y="68209"/>
                      <a:pt x="165844" y="60738"/>
                      <a:pt x="163953" y="53412"/>
                    </a:cubicBezTo>
                    <a:cubicBezTo>
                      <a:pt x="156641" y="25118"/>
                      <a:pt x="132174" y="4585"/>
                      <a:pt x="103040" y="2292"/>
                    </a:cubicBezTo>
                    <a:cubicBezTo>
                      <a:pt x="73907" y="0"/>
                      <a:pt x="46530" y="16454"/>
                      <a:pt x="34882" y="43256"/>
                    </a:cubicBezTo>
                    <a:cubicBezTo>
                      <a:pt x="23234" y="70059"/>
                      <a:pt x="29884" y="101299"/>
                      <a:pt x="51438" y="121035"/>
                    </a:cubicBezTo>
                    <a:cubicBezTo>
                      <a:pt x="32838" y="129104"/>
                      <a:pt x="16672" y="141895"/>
                      <a:pt x="4542" y="158141"/>
                    </a:cubicBezTo>
                    <a:cubicBezTo>
                      <a:pt x="0" y="164190"/>
                      <a:pt x="1222" y="172776"/>
                      <a:pt x="7272" y="177318"/>
                    </a:cubicBezTo>
                    <a:cubicBezTo>
                      <a:pt x="13321" y="181860"/>
                      <a:pt x="21907" y="180638"/>
                      <a:pt x="26449" y="174588"/>
                    </a:cubicBezTo>
                    <a:cubicBezTo>
                      <a:pt x="43186" y="152092"/>
                      <a:pt x="69610" y="138880"/>
                      <a:pt x="97649" y="138989"/>
                    </a:cubicBezTo>
                    <a:cubicBezTo>
                      <a:pt x="105211" y="138989"/>
                      <a:pt x="111341" y="132858"/>
                      <a:pt x="111341" y="12529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234238" y="2035969"/>
              <a:ext cx="148530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角色专业化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9400" y="2562225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通过提示模板、微调或蒸馏，固化为检索、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9400" y="2847975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审查、工具执行、安全评估等专用角色。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790950"/>
            <a:ext cx="5143500" cy="1714500"/>
            <a:chOff x="666750" y="3790950"/>
            <a:chExt cx="5143500" cy="1714500"/>
          </a:xfrm>
        </p:grpSpPr>
        <p:sp>
          <p:nvSpPr>
            <p:cNvPr id="22" name="Freeform 22"/>
            <p:cNvSpPr/>
            <p:nvPr/>
          </p:nvSpPr>
          <p:spPr>
            <a:xfrm>
              <a:off x="666750" y="379095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40598" y="4126111"/>
              <a:ext cx="417309" cy="301228"/>
              <a:chOff x="940598" y="4126111"/>
              <a:chExt cx="417309" cy="30122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4277" y="4129852"/>
                <a:ext cx="389939" cy="283795"/>
              </a:xfrm>
              <a:custGeom>
                <a:avLst/>
                <a:gdLst/>
                <a:ahLst/>
                <a:cxnLst/>
                <a:rect l="l" t="t" r="r" b="b"/>
                <a:pathLst>
                  <a:path w="389939" h="283795">
                    <a:moveTo>
                      <a:pt x="389939" y="146873"/>
                    </a:moveTo>
                    <a:cubicBezTo>
                      <a:pt x="389939" y="222493"/>
                      <a:pt x="328637" y="283795"/>
                      <a:pt x="253017" y="283795"/>
                    </a:cubicBezTo>
                    <a:lnTo>
                      <a:pt x="102403" y="283795"/>
                    </a:lnTo>
                    <a:cubicBezTo>
                      <a:pt x="65306" y="283749"/>
                      <a:pt x="31566" y="262300"/>
                      <a:pt x="15783" y="228728"/>
                    </a:cubicBezTo>
                    <a:cubicBezTo>
                      <a:pt x="0" y="195156"/>
                      <a:pt x="5008" y="155490"/>
                      <a:pt x="28639" y="126894"/>
                    </a:cubicBezTo>
                    <a:cubicBezTo>
                      <a:pt x="52271" y="98298"/>
                      <a:pt x="90283" y="85907"/>
                      <a:pt x="126227" y="95083"/>
                    </a:cubicBezTo>
                    <a:lnTo>
                      <a:pt x="126227" y="95254"/>
                    </a:lnTo>
                    <a:cubicBezTo>
                      <a:pt x="150937" y="34645"/>
                      <a:pt x="215086" y="0"/>
                      <a:pt x="279319" y="12573"/>
                    </a:cubicBezTo>
                    <a:cubicBezTo>
                      <a:pt x="343552" y="25146"/>
                      <a:pt x="389905" y="81421"/>
                      <a:pt x="389939" y="146873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40598" y="4126111"/>
                <a:ext cx="417309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417309" h="301228">
                    <a:moveTo>
                      <a:pt x="266695" y="0"/>
                    </a:moveTo>
                    <a:cubicBezTo>
                      <a:pt x="209648" y="44"/>
                      <a:pt x="157510" y="32283"/>
                      <a:pt x="131981" y="83300"/>
                    </a:cubicBezTo>
                    <a:cubicBezTo>
                      <a:pt x="91392" y="77380"/>
                      <a:pt x="50898" y="94634"/>
                      <a:pt x="27050" y="128007"/>
                    </a:cubicBezTo>
                    <a:cubicBezTo>
                      <a:pt x="3203" y="161381"/>
                      <a:pt x="0" y="205282"/>
                      <a:pt x="18751" y="241763"/>
                    </a:cubicBezTo>
                    <a:cubicBezTo>
                      <a:pt x="37501" y="278245"/>
                      <a:pt x="75063" y="301194"/>
                      <a:pt x="116081" y="301228"/>
                    </a:cubicBezTo>
                    <a:lnTo>
                      <a:pt x="266695" y="301228"/>
                    </a:lnTo>
                    <a:cubicBezTo>
                      <a:pt x="349877" y="301228"/>
                      <a:pt x="417309" y="233796"/>
                      <a:pt x="417309" y="150614"/>
                    </a:cubicBezTo>
                    <a:cubicBezTo>
                      <a:pt x="417309" y="67432"/>
                      <a:pt x="349877" y="0"/>
                      <a:pt x="266695" y="0"/>
                    </a:cubicBezTo>
                    <a:close/>
                    <a:moveTo>
                      <a:pt x="266695" y="273844"/>
                    </a:moveTo>
                    <a:lnTo>
                      <a:pt x="116081" y="273844"/>
                    </a:lnTo>
                    <a:cubicBezTo>
                      <a:pt x="70709" y="273844"/>
                      <a:pt x="33928" y="237063"/>
                      <a:pt x="33928" y="191691"/>
                    </a:cubicBezTo>
                    <a:cubicBezTo>
                      <a:pt x="33928" y="146319"/>
                      <a:pt x="70709" y="109538"/>
                      <a:pt x="116081" y="109538"/>
                    </a:cubicBezTo>
                    <a:cubicBezTo>
                      <a:pt x="117964" y="109538"/>
                      <a:pt x="119847" y="109538"/>
                      <a:pt x="121712" y="109726"/>
                    </a:cubicBezTo>
                    <a:cubicBezTo>
                      <a:pt x="117968" y="123032"/>
                      <a:pt x="116073" y="136791"/>
                      <a:pt x="116081" y="150614"/>
                    </a:cubicBezTo>
                    <a:cubicBezTo>
                      <a:pt x="116081" y="158176"/>
                      <a:pt x="122212" y="164306"/>
                      <a:pt x="129774" y="164306"/>
                    </a:cubicBezTo>
                    <a:cubicBezTo>
                      <a:pt x="137336" y="164306"/>
                      <a:pt x="143466" y="158176"/>
                      <a:pt x="143466" y="150614"/>
                    </a:cubicBezTo>
                    <a:cubicBezTo>
                      <a:pt x="143466" y="82556"/>
                      <a:pt x="198638" y="27384"/>
                      <a:pt x="266695" y="27384"/>
                    </a:cubicBezTo>
                    <a:cubicBezTo>
                      <a:pt x="334753" y="27384"/>
                      <a:pt x="389925" y="82556"/>
                      <a:pt x="389925" y="150614"/>
                    </a:cubicBezTo>
                    <a:cubicBezTo>
                      <a:pt x="389925" y="218672"/>
                      <a:pt x="334753" y="273844"/>
                      <a:pt x="266695" y="273844"/>
                    </a:cubicBezTo>
                    <a:close/>
                    <a:moveTo>
                      <a:pt x="331151" y="113542"/>
                    </a:moveTo>
                    <a:cubicBezTo>
                      <a:pt x="333722" y="116111"/>
                      <a:pt x="335167" y="119596"/>
                      <a:pt x="335167" y="123230"/>
                    </a:cubicBezTo>
                    <a:cubicBezTo>
                      <a:pt x="335167" y="126864"/>
                      <a:pt x="333722" y="130349"/>
                      <a:pt x="331151" y="132917"/>
                    </a:cubicBezTo>
                    <a:lnTo>
                      <a:pt x="248998" y="215070"/>
                    </a:lnTo>
                    <a:cubicBezTo>
                      <a:pt x="246430" y="217641"/>
                      <a:pt x="242945" y="219086"/>
                      <a:pt x="239311" y="219086"/>
                    </a:cubicBezTo>
                    <a:cubicBezTo>
                      <a:pt x="235677" y="219086"/>
                      <a:pt x="232192" y="217641"/>
                      <a:pt x="229624" y="215070"/>
                    </a:cubicBezTo>
                    <a:lnTo>
                      <a:pt x="188547" y="173993"/>
                    </a:lnTo>
                    <a:cubicBezTo>
                      <a:pt x="183197" y="168643"/>
                      <a:pt x="183197" y="159969"/>
                      <a:pt x="188547" y="154619"/>
                    </a:cubicBezTo>
                    <a:cubicBezTo>
                      <a:pt x="193897" y="149269"/>
                      <a:pt x="202572" y="149269"/>
                      <a:pt x="207922" y="154619"/>
                    </a:cubicBezTo>
                    <a:lnTo>
                      <a:pt x="239311" y="186025"/>
                    </a:lnTo>
                    <a:lnTo>
                      <a:pt x="311777" y="113542"/>
                    </a:lnTo>
                    <a:cubicBezTo>
                      <a:pt x="314345" y="110971"/>
                      <a:pt x="317830" y="109527"/>
                      <a:pt x="321464" y="109527"/>
                    </a:cubicBezTo>
                    <a:cubicBezTo>
                      <a:pt x="325098" y="109527"/>
                      <a:pt x="328583" y="110971"/>
                      <a:pt x="331151" y="113542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519238" y="4112419"/>
              <a:ext cx="26354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私有化与端边云协同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4400" y="4638675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进入企业私有云、本地服务器、边缘设备，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4400" y="492442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让敏感数据处理更靠近数据源。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81750" y="3790950"/>
            <a:ext cx="5143500" cy="1714500"/>
            <a:chOff x="6381750" y="3790950"/>
            <a:chExt cx="5143500" cy="1714500"/>
          </a:xfrm>
        </p:grpSpPr>
        <p:sp>
          <p:nvSpPr>
            <p:cNvPr id="30" name="Freeform 30"/>
            <p:cNvSpPr/>
            <p:nvPr/>
          </p:nvSpPr>
          <p:spPr>
            <a:xfrm>
              <a:off x="6381750" y="379095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703219" y="4126111"/>
              <a:ext cx="328612" cy="342771"/>
              <a:chOff x="6703219" y="4126111"/>
              <a:chExt cx="328612" cy="34277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716911" y="4139803"/>
                <a:ext cx="301228" cy="315126"/>
              </a:xfrm>
              <a:custGeom>
                <a:avLst/>
                <a:gdLst/>
                <a:ahLst/>
                <a:cxnLst/>
                <a:rect l="l" t="t" r="r" b="b"/>
                <a:pathLst>
                  <a:path w="301228" h="315126">
                    <a:moveTo>
                      <a:pt x="301228" y="13692"/>
                    </a:moveTo>
                    <a:lnTo>
                      <a:pt x="301228" y="114278"/>
                    </a:lnTo>
                    <a:cubicBezTo>
                      <a:pt x="301228" y="258354"/>
                      <a:pt x="179179" y="306089"/>
                      <a:pt x="154824" y="314184"/>
                    </a:cubicBezTo>
                    <a:cubicBezTo>
                      <a:pt x="152096" y="315126"/>
                      <a:pt x="149132" y="315126"/>
                      <a:pt x="146404" y="314184"/>
                    </a:cubicBezTo>
                    <a:cubicBezTo>
                      <a:pt x="122049" y="306123"/>
                      <a:pt x="0" y="258440"/>
                      <a:pt x="0" y="114313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lnTo>
                      <a:pt x="287536" y="0"/>
                    </a:lnTo>
                    <a:cubicBezTo>
                      <a:pt x="295098" y="0"/>
                      <a:pt x="301228" y="6130"/>
                      <a:pt x="301228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3219" y="4126111"/>
                <a:ext cx="328612" cy="342771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342771">
                    <a:moveTo>
                      <a:pt x="301228" y="0"/>
                    </a:moveTo>
                    <a:lnTo>
                      <a:pt x="27384" y="0"/>
                    </a:lnTo>
                    <a:cubicBezTo>
                      <a:pt x="12260" y="0"/>
                      <a:pt x="0" y="12260"/>
                      <a:pt x="0" y="27384"/>
                    </a:cubicBezTo>
                    <a:lnTo>
                      <a:pt x="0" y="127988"/>
                    </a:lnTo>
                    <a:cubicBezTo>
                      <a:pt x="0" y="281357"/>
                      <a:pt x="129768" y="332241"/>
                      <a:pt x="155749" y="340884"/>
                    </a:cubicBezTo>
                    <a:cubicBezTo>
                      <a:pt x="161298" y="342771"/>
                      <a:pt x="167315" y="342771"/>
                      <a:pt x="172864" y="340884"/>
                    </a:cubicBezTo>
                    <a:cubicBezTo>
                      <a:pt x="198879" y="332241"/>
                      <a:pt x="328612" y="281357"/>
                      <a:pt x="328612" y="127988"/>
                    </a:cubicBezTo>
                    <a:lnTo>
                      <a:pt x="328612" y="27384"/>
                    </a:lnTo>
                    <a:cubicBezTo>
                      <a:pt x="328612" y="12260"/>
                      <a:pt x="316352" y="0"/>
                      <a:pt x="301228" y="0"/>
                    </a:cubicBezTo>
                    <a:close/>
                    <a:moveTo>
                      <a:pt x="301228" y="128005"/>
                    </a:moveTo>
                    <a:cubicBezTo>
                      <a:pt x="301228" y="262223"/>
                      <a:pt x="187669" y="307064"/>
                      <a:pt x="164306" y="314869"/>
                    </a:cubicBezTo>
                    <a:cubicBezTo>
                      <a:pt x="141149" y="307150"/>
                      <a:pt x="27384" y="262342"/>
                      <a:pt x="27384" y="128005"/>
                    </a:cubicBezTo>
                    <a:lnTo>
                      <a:pt x="27384" y="27384"/>
                    </a:lnTo>
                    <a:lnTo>
                      <a:pt x="301228" y="27384"/>
                    </a:lnTo>
                    <a:close/>
                    <a:moveTo>
                      <a:pt x="86158" y="173993"/>
                    </a:moveTo>
                    <a:cubicBezTo>
                      <a:pt x="80808" y="168643"/>
                      <a:pt x="80808" y="159969"/>
                      <a:pt x="86158" y="154619"/>
                    </a:cubicBezTo>
                    <a:cubicBezTo>
                      <a:pt x="91508" y="149269"/>
                      <a:pt x="100182" y="149269"/>
                      <a:pt x="105533" y="154619"/>
                    </a:cubicBezTo>
                    <a:lnTo>
                      <a:pt x="136922" y="186008"/>
                    </a:lnTo>
                    <a:lnTo>
                      <a:pt x="223080" y="99850"/>
                    </a:lnTo>
                    <a:cubicBezTo>
                      <a:pt x="228430" y="94500"/>
                      <a:pt x="237104" y="94500"/>
                      <a:pt x="242454" y="99850"/>
                    </a:cubicBezTo>
                    <a:cubicBezTo>
                      <a:pt x="247805" y="105200"/>
                      <a:pt x="247805" y="113875"/>
                      <a:pt x="242454" y="119225"/>
                    </a:cubicBezTo>
                    <a:lnTo>
                      <a:pt x="146609" y="215070"/>
                    </a:lnTo>
                    <a:cubicBezTo>
                      <a:pt x="144041" y="217641"/>
                      <a:pt x="140556" y="219086"/>
                      <a:pt x="136922" y="219086"/>
                    </a:cubicBezTo>
                    <a:cubicBezTo>
                      <a:pt x="133288" y="219086"/>
                      <a:pt x="129803" y="217641"/>
                      <a:pt x="127235" y="21507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234238" y="4112419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安全过滤与评审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29400" y="4638675"/>
              <a:ext cx="43648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作为低成本 guardrail，执行敏感信息识别、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29400" y="492442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越权提示拦截和人工审批前初筛。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 / 10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63997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关键技术把“小模型”变成“可用节点”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8763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42900"/>
                </a:lnTo>
                <a:cubicBezTo>
                  <a:pt x="11125200" y="406026"/>
                  <a:pt x="11074026" y="457200"/>
                  <a:pt x="110109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009650"/>
            <a:ext cx="7486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技术路线的共同目标：降低部署门槛，同时把任务边界和升级路径设计清楚。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1357299" y="2559807"/>
            <a:ext cx="428638" cy="371548"/>
            <a:chOff x="1357299" y="2559807"/>
            <a:chExt cx="428638" cy="371548"/>
          </a:xfrm>
        </p:grpSpPr>
        <p:sp>
          <p:nvSpPr>
            <p:cNvPr id="7" name="Freeform 7"/>
            <p:cNvSpPr/>
            <p:nvPr/>
          </p:nvSpPr>
          <p:spPr>
            <a:xfrm>
              <a:off x="1371523" y="2581275"/>
              <a:ext cx="400138" cy="328612"/>
            </a:xfrm>
            <a:custGeom>
              <a:avLst/>
              <a:gdLst/>
              <a:ahLst/>
              <a:cxnLst/>
              <a:rect l="l" t="t" r="r" b="b"/>
              <a:pathLst>
                <a:path w="400138" h="328612">
                  <a:moveTo>
                    <a:pt x="400127" y="164306"/>
                  </a:moveTo>
                  <a:cubicBezTo>
                    <a:pt x="400138" y="200645"/>
                    <a:pt x="377237" y="233043"/>
                    <a:pt x="342977" y="245156"/>
                  </a:cubicBezTo>
                  <a:lnTo>
                    <a:pt x="342977" y="245156"/>
                  </a:lnTo>
                  <a:lnTo>
                    <a:pt x="342977" y="257175"/>
                  </a:lnTo>
                  <a:cubicBezTo>
                    <a:pt x="342977" y="296629"/>
                    <a:pt x="310993" y="328612"/>
                    <a:pt x="271539" y="328612"/>
                  </a:cubicBezTo>
                  <a:cubicBezTo>
                    <a:pt x="232085" y="328612"/>
                    <a:pt x="200102" y="296629"/>
                    <a:pt x="200102" y="257175"/>
                  </a:cubicBezTo>
                  <a:cubicBezTo>
                    <a:pt x="200102" y="296629"/>
                    <a:pt x="168118" y="328612"/>
                    <a:pt x="128664" y="328612"/>
                  </a:cubicBezTo>
                  <a:cubicBezTo>
                    <a:pt x="89210" y="328612"/>
                    <a:pt x="57227" y="296629"/>
                    <a:pt x="57227" y="257175"/>
                  </a:cubicBezTo>
                  <a:lnTo>
                    <a:pt x="57227" y="245156"/>
                  </a:lnTo>
                  <a:lnTo>
                    <a:pt x="57227" y="245156"/>
                  </a:lnTo>
                  <a:cubicBezTo>
                    <a:pt x="22936" y="233069"/>
                    <a:pt x="0" y="200665"/>
                    <a:pt x="0" y="164306"/>
                  </a:cubicBezTo>
                  <a:cubicBezTo>
                    <a:pt x="0" y="127948"/>
                    <a:pt x="22936" y="95544"/>
                    <a:pt x="57227" y="83457"/>
                  </a:cubicBezTo>
                  <a:lnTo>
                    <a:pt x="57227" y="71438"/>
                  </a:lnTo>
                  <a:cubicBezTo>
                    <a:pt x="57227" y="31984"/>
                    <a:pt x="89210" y="0"/>
                    <a:pt x="128664" y="0"/>
                  </a:cubicBezTo>
                  <a:cubicBezTo>
                    <a:pt x="168118" y="0"/>
                    <a:pt x="200102" y="31984"/>
                    <a:pt x="200102" y="71438"/>
                  </a:cubicBezTo>
                  <a:cubicBezTo>
                    <a:pt x="200102" y="31984"/>
                    <a:pt x="232085" y="0"/>
                    <a:pt x="271539" y="0"/>
                  </a:cubicBezTo>
                  <a:cubicBezTo>
                    <a:pt x="310993" y="0"/>
                    <a:pt x="342977" y="31984"/>
                    <a:pt x="342977" y="71438"/>
                  </a:cubicBezTo>
                  <a:lnTo>
                    <a:pt x="342977" y="83457"/>
                  </a:lnTo>
                  <a:cubicBezTo>
                    <a:pt x="377237" y="95570"/>
                    <a:pt x="400138" y="127968"/>
                    <a:pt x="400127" y="164306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357299" y="2559807"/>
              <a:ext cx="428638" cy="371548"/>
            </a:xfrm>
            <a:custGeom>
              <a:avLst/>
              <a:gdLst/>
              <a:ahLst/>
              <a:cxnLst/>
              <a:rect l="l" t="t" r="r" b="b"/>
              <a:pathLst>
                <a:path w="428638" h="371548">
                  <a:moveTo>
                    <a:pt x="428638" y="185774"/>
                  </a:moveTo>
                  <a:cubicBezTo>
                    <a:pt x="428600" y="147149"/>
                    <a:pt x="406366" y="111984"/>
                    <a:pt x="371488" y="95388"/>
                  </a:cubicBezTo>
                  <a:lnTo>
                    <a:pt x="371488" y="92905"/>
                  </a:lnTo>
                  <a:cubicBezTo>
                    <a:pt x="371455" y="55106"/>
                    <a:pt x="346668" y="21791"/>
                    <a:pt x="310473" y="10895"/>
                  </a:cubicBezTo>
                  <a:cubicBezTo>
                    <a:pt x="274279" y="0"/>
                    <a:pt x="235220" y="14097"/>
                    <a:pt x="214326" y="45596"/>
                  </a:cubicBezTo>
                  <a:cubicBezTo>
                    <a:pt x="193432" y="14097"/>
                    <a:pt x="154373" y="0"/>
                    <a:pt x="118178" y="10895"/>
                  </a:cubicBezTo>
                  <a:cubicBezTo>
                    <a:pt x="81984" y="21791"/>
                    <a:pt x="57197" y="55106"/>
                    <a:pt x="57163" y="92905"/>
                  </a:cubicBezTo>
                  <a:lnTo>
                    <a:pt x="57163" y="95388"/>
                  </a:lnTo>
                  <a:cubicBezTo>
                    <a:pt x="22253" y="111940"/>
                    <a:pt x="0" y="147121"/>
                    <a:pt x="0" y="185756"/>
                  </a:cubicBezTo>
                  <a:cubicBezTo>
                    <a:pt x="0" y="224392"/>
                    <a:pt x="22253" y="259572"/>
                    <a:pt x="57163" y="276124"/>
                  </a:cubicBezTo>
                  <a:lnTo>
                    <a:pt x="57163" y="278643"/>
                  </a:lnTo>
                  <a:cubicBezTo>
                    <a:pt x="57197" y="316441"/>
                    <a:pt x="81984" y="349757"/>
                    <a:pt x="118178" y="360652"/>
                  </a:cubicBezTo>
                  <a:cubicBezTo>
                    <a:pt x="154373" y="371548"/>
                    <a:pt x="193432" y="357451"/>
                    <a:pt x="214326" y="325952"/>
                  </a:cubicBezTo>
                  <a:cubicBezTo>
                    <a:pt x="235220" y="357451"/>
                    <a:pt x="274279" y="371548"/>
                    <a:pt x="310473" y="360652"/>
                  </a:cubicBezTo>
                  <a:cubicBezTo>
                    <a:pt x="346668" y="349757"/>
                    <a:pt x="371455" y="316441"/>
                    <a:pt x="371488" y="278643"/>
                  </a:cubicBezTo>
                  <a:lnTo>
                    <a:pt x="371488" y="276124"/>
                  </a:lnTo>
                  <a:cubicBezTo>
                    <a:pt x="406360" y="259540"/>
                    <a:pt x="428595" y="224388"/>
                    <a:pt x="428638" y="185774"/>
                  </a:cubicBezTo>
                  <a:close/>
                  <a:moveTo>
                    <a:pt x="142888" y="335793"/>
                  </a:moveTo>
                  <a:cubicBezTo>
                    <a:pt x="113706" y="335788"/>
                    <a:pt x="89215" y="313799"/>
                    <a:pt x="86078" y="284786"/>
                  </a:cubicBezTo>
                  <a:cubicBezTo>
                    <a:pt x="90698" y="285445"/>
                    <a:pt x="95359" y="285780"/>
                    <a:pt x="100026" y="285786"/>
                  </a:cubicBezTo>
                  <a:lnTo>
                    <a:pt x="114313" y="285786"/>
                  </a:lnTo>
                  <a:cubicBezTo>
                    <a:pt x="122204" y="285786"/>
                    <a:pt x="128601" y="279390"/>
                    <a:pt x="128601" y="271499"/>
                  </a:cubicBezTo>
                  <a:cubicBezTo>
                    <a:pt x="128601" y="263608"/>
                    <a:pt x="122204" y="257211"/>
                    <a:pt x="114313" y="257211"/>
                  </a:cubicBezTo>
                  <a:lnTo>
                    <a:pt x="100026" y="257211"/>
                  </a:lnTo>
                  <a:cubicBezTo>
                    <a:pt x="65200" y="257252"/>
                    <a:pt x="35419" y="232174"/>
                    <a:pt x="29533" y="197849"/>
                  </a:cubicBezTo>
                  <a:cubicBezTo>
                    <a:pt x="23646" y="163523"/>
                    <a:pt x="43369" y="129956"/>
                    <a:pt x="76219" y="118390"/>
                  </a:cubicBezTo>
                  <a:cubicBezTo>
                    <a:pt x="81924" y="116371"/>
                    <a:pt x="85737" y="110976"/>
                    <a:pt x="85738" y="104924"/>
                  </a:cubicBezTo>
                  <a:lnTo>
                    <a:pt x="85738" y="92905"/>
                  </a:lnTo>
                  <a:cubicBezTo>
                    <a:pt x="85738" y="61342"/>
                    <a:pt x="111325" y="35755"/>
                    <a:pt x="142888" y="35755"/>
                  </a:cubicBezTo>
                  <a:cubicBezTo>
                    <a:pt x="174451" y="35755"/>
                    <a:pt x="200038" y="61342"/>
                    <a:pt x="200038" y="92905"/>
                  </a:cubicBezTo>
                  <a:lnTo>
                    <a:pt x="200038" y="214813"/>
                  </a:lnTo>
                  <a:cubicBezTo>
                    <a:pt x="184349" y="200702"/>
                    <a:pt x="163990" y="192902"/>
                    <a:pt x="142888" y="192918"/>
                  </a:cubicBezTo>
                  <a:cubicBezTo>
                    <a:pt x="134998" y="192918"/>
                    <a:pt x="128601" y="199314"/>
                    <a:pt x="128601" y="207205"/>
                  </a:cubicBezTo>
                  <a:cubicBezTo>
                    <a:pt x="128601" y="215096"/>
                    <a:pt x="134998" y="221493"/>
                    <a:pt x="142888" y="221493"/>
                  </a:cubicBezTo>
                  <a:cubicBezTo>
                    <a:pt x="174451" y="221493"/>
                    <a:pt x="200038" y="247080"/>
                    <a:pt x="200038" y="278643"/>
                  </a:cubicBezTo>
                  <a:cubicBezTo>
                    <a:pt x="200038" y="310206"/>
                    <a:pt x="174451" y="335793"/>
                    <a:pt x="142888" y="335793"/>
                  </a:cubicBezTo>
                  <a:close/>
                  <a:moveTo>
                    <a:pt x="328626" y="257211"/>
                  </a:moveTo>
                  <a:lnTo>
                    <a:pt x="314338" y="257211"/>
                  </a:lnTo>
                  <a:cubicBezTo>
                    <a:pt x="306448" y="257211"/>
                    <a:pt x="300051" y="263608"/>
                    <a:pt x="300051" y="271499"/>
                  </a:cubicBezTo>
                  <a:cubicBezTo>
                    <a:pt x="300051" y="279390"/>
                    <a:pt x="306448" y="285786"/>
                    <a:pt x="314338" y="285786"/>
                  </a:cubicBezTo>
                  <a:lnTo>
                    <a:pt x="328626" y="285786"/>
                  </a:lnTo>
                  <a:cubicBezTo>
                    <a:pt x="333293" y="285780"/>
                    <a:pt x="337954" y="285445"/>
                    <a:pt x="342574" y="284786"/>
                  </a:cubicBezTo>
                  <a:cubicBezTo>
                    <a:pt x="339267" y="315374"/>
                    <a:pt x="312339" y="337854"/>
                    <a:pt x="281652" y="335645"/>
                  </a:cubicBezTo>
                  <a:cubicBezTo>
                    <a:pt x="250966" y="333436"/>
                    <a:pt x="227535" y="307332"/>
                    <a:pt x="228642" y="276586"/>
                  </a:cubicBezTo>
                  <a:cubicBezTo>
                    <a:pt x="229750" y="245840"/>
                    <a:pt x="254998" y="221488"/>
                    <a:pt x="285763" y="221493"/>
                  </a:cubicBezTo>
                  <a:cubicBezTo>
                    <a:pt x="293654" y="221493"/>
                    <a:pt x="300051" y="215096"/>
                    <a:pt x="300051" y="207205"/>
                  </a:cubicBezTo>
                  <a:cubicBezTo>
                    <a:pt x="300051" y="199314"/>
                    <a:pt x="293654" y="192918"/>
                    <a:pt x="285763" y="192918"/>
                  </a:cubicBezTo>
                  <a:cubicBezTo>
                    <a:pt x="264662" y="192902"/>
                    <a:pt x="244303" y="200702"/>
                    <a:pt x="228613" y="214813"/>
                  </a:cubicBezTo>
                  <a:lnTo>
                    <a:pt x="228613" y="92905"/>
                  </a:lnTo>
                  <a:cubicBezTo>
                    <a:pt x="228613" y="61342"/>
                    <a:pt x="254200" y="35755"/>
                    <a:pt x="285763" y="35755"/>
                  </a:cubicBezTo>
                  <a:cubicBezTo>
                    <a:pt x="317326" y="35755"/>
                    <a:pt x="342913" y="61342"/>
                    <a:pt x="342913" y="92905"/>
                  </a:cubicBezTo>
                  <a:lnTo>
                    <a:pt x="342913" y="104924"/>
                  </a:lnTo>
                  <a:cubicBezTo>
                    <a:pt x="342914" y="110976"/>
                    <a:pt x="346728" y="116371"/>
                    <a:pt x="352432" y="118390"/>
                  </a:cubicBezTo>
                  <a:cubicBezTo>
                    <a:pt x="385282" y="129956"/>
                    <a:pt x="405006" y="163523"/>
                    <a:pt x="399119" y="197849"/>
                  </a:cubicBezTo>
                  <a:cubicBezTo>
                    <a:pt x="393233" y="232174"/>
                    <a:pt x="363452" y="257252"/>
                    <a:pt x="328626" y="257211"/>
                  </a:cubicBezTo>
                  <a:close/>
                  <a:moveTo>
                    <a:pt x="357201" y="164343"/>
                  </a:moveTo>
                  <a:cubicBezTo>
                    <a:pt x="357201" y="172233"/>
                    <a:pt x="350804" y="178630"/>
                    <a:pt x="342913" y="178630"/>
                  </a:cubicBezTo>
                  <a:lnTo>
                    <a:pt x="335770" y="178630"/>
                  </a:lnTo>
                  <a:cubicBezTo>
                    <a:pt x="300261" y="178630"/>
                    <a:pt x="271476" y="149845"/>
                    <a:pt x="271476" y="114336"/>
                  </a:cubicBezTo>
                  <a:lnTo>
                    <a:pt x="271476" y="107193"/>
                  </a:lnTo>
                  <a:cubicBezTo>
                    <a:pt x="271476" y="99302"/>
                    <a:pt x="277873" y="92905"/>
                    <a:pt x="285763" y="92905"/>
                  </a:cubicBezTo>
                  <a:cubicBezTo>
                    <a:pt x="293654" y="92905"/>
                    <a:pt x="300051" y="99302"/>
                    <a:pt x="300051" y="107193"/>
                  </a:cubicBezTo>
                  <a:lnTo>
                    <a:pt x="300051" y="114336"/>
                  </a:lnTo>
                  <a:cubicBezTo>
                    <a:pt x="300051" y="134063"/>
                    <a:pt x="316043" y="150055"/>
                    <a:pt x="335770" y="150055"/>
                  </a:cubicBezTo>
                  <a:lnTo>
                    <a:pt x="342913" y="150055"/>
                  </a:lnTo>
                  <a:cubicBezTo>
                    <a:pt x="350804" y="150055"/>
                    <a:pt x="357201" y="156452"/>
                    <a:pt x="357201" y="164343"/>
                  </a:cubicBezTo>
                  <a:close/>
                  <a:moveTo>
                    <a:pt x="92882" y="178630"/>
                  </a:moveTo>
                  <a:lnTo>
                    <a:pt x="85738" y="178630"/>
                  </a:lnTo>
                  <a:cubicBezTo>
                    <a:pt x="77848" y="178630"/>
                    <a:pt x="71451" y="172233"/>
                    <a:pt x="71451" y="164343"/>
                  </a:cubicBezTo>
                  <a:cubicBezTo>
                    <a:pt x="71451" y="156452"/>
                    <a:pt x="77848" y="150055"/>
                    <a:pt x="85738" y="150055"/>
                  </a:cubicBezTo>
                  <a:lnTo>
                    <a:pt x="92882" y="150055"/>
                  </a:lnTo>
                  <a:cubicBezTo>
                    <a:pt x="112609" y="150055"/>
                    <a:pt x="128601" y="134063"/>
                    <a:pt x="128601" y="114336"/>
                  </a:cubicBezTo>
                  <a:lnTo>
                    <a:pt x="128601" y="107193"/>
                  </a:lnTo>
                  <a:cubicBezTo>
                    <a:pt x="128601" y="99302"/>
                    <a:pt x="134998" y="92905"/>
                    <a:pt x="142888" y="92905"/>
                  </a:cubicBezTo>
                  <a:cubicBezTo>
                    <a:pt x="150779" y="92905"/>
                    <a:pt x="157176" y="99302"/>
                    <a:pt x="157176" y="107193"/>
                  </a:cubicBezTo>
                  <a:lnTo>
                    <a:pt x="157176" y="114336"/>
                  </a:lnTo>
                  <a:cubicBezTo>
                    <a:pt x="157176" y="149845"/>
                    <a:pt x="128391" y="178630"/>
                    <a:pt x="92882" y="17863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92518" y="3095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知识蒸馏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44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角色策略迁移</a:t>
            </a:r>
          </a:p>
        </p:txBody>
      </p:sp>
      <p:sp>
        <p:nvSpPr>
          <p:cNvPr id="12" name="Polygon 12"/>
          <p:cNvSpPr/>
          <p:nvPr/>
        </p:nvSpPr>
        <p:spPr>
          <a:xfrm>
            <a:off x="26860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31432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3848100" y="2552700"/>
            <a:ext cx="400050" cy="400050"/>
            <a:chOff x="3848100" y="2552700"/>
            <a:chExt cx="400050" cy="400050"/>
          </a:xfrm>
        </p:grpSpPr>
        <p:sp>
          <p:nvSpPr>
            <p:cNvPr id="14" name="Freeform 14"/>
            <p:cNvSpPr/>
            <p:nvPr/>
          </p:nvSpPr>
          <p:spPr>
            <a:xfrm>
              <a:off x="3905250" y="26098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71462" y="0"/>
                  </a:moveTo>
                  <a:lnTo>
                    <a:pt x="14288" y="0"/>
                  </a:lnTo>
                  <a:cubicBezTo>
                    <a:pt x="6397" y="0"/>
                    <a:pt x="0" y="6397"/>
                    <a:pt x="0" y="14288"/>
                  </a:cubicBezTo>
                  <a:lnTo>
                    <a:pt x="0" y="271462"/>
                  </a:lnTo>
                  <a:cubicBezTo>
                    <a:pt x="0" y="279353"/>
                    <a:pt x="6397" y="285750"/>
                    <a:pt x="14288" y="285750"/>
                  </a:cubicBezTo>
                  <a:lnTo>
                    <a:pt x="271462" y="285750"/>
                  </a:lnTo>
                  <a:cubicBezTo>
                    <a:pt x="279353" y="285750"/>
                    <a:pt x="285750" y="279353"/>
                    <a:pt x="285750" y="271462"/>
                  </a:cubicBezTo>
                  <a:lnTo>
                    <a:pt x="285750" y="14288"/>
                  </a:lnTo>
                  <a:cubicBezTo>
                    <a:pt x="285750" y="6397"/>
                    <a:pt x="279353" y="0"/>
                    <a:pt x="271462" y="0"/>
                  </a:cubicBezTo>
                  <a:close/>
                  <a:moveTo>
                    <a:pt x="185738" y="185738"/>
                  </a:moveTo>
                  <a:lnTo>
                    <a:pt x="100012" y="185738"/>
                  </a:lnTo>
                  <a:lnTo>
                    <a:pt x="100012" y="100012"/>
                  </a:lnTo>
                  <a:lnTo>
                    <a:pt x="185738" y="100012"/>
                  </a:ln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848100" y="255270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42888" y="142875"/>
                  </a:moveTo>
                  <a:lnTo>
                    <a:pt x="157162" y="142875"/>
                  </a:lnTo>
                  <a:cubicBezTo>
                    <a:pt x="149272" y="142875"/>
                    <a:pt x="142875" y="149272"/>
                    <a:pt x="142875" y="157162"/>
                  </a:cubicBezTo>
                  <a:lnTo>
                    <a:pt x="142875" y="242888"/>
                  </a:lnTo>
                  <a:cubicBezTo>
                    <a:pt x="142875" y="250778"/>
                    <a:pt x="149272" y="257175"/>
                    <a:pt x="157162" y="257175"/>
                  </a:cubicBezTo>
                  <a:lnTo>
                    <a:pt x="242888" y="257175"/>
                  </a:lnTo>
                  <a:cubicBezTo>
                    <a:pt x="250778" y="257175"/>
                    <a:pt x="257175" y="250778"/>
                    <a:pt x="257175" y="242888"/>
                  </a:cubicBezTo>
                  <a:lnTo>
                    <a:pt x="257175" y="157162"/>
                  </a:lnTo>
                  <a:cubicBezTo>
                    <a:pt x="257175" y="149272"/>
                    <a:pt x="250778" y="142875"/>
                    <a:pt x="242888" y="142875"/>
                  </a:cubicBezTo>
                  <a:close/>
                  <a:moveTo>
                    <a:pt x="228600" y="228600"/>
                  </a:moveTo>
                  <a:lnTo>
                    <a:pt x="171450" y="228600"/>
                  </a:lnTo>
                  <a:lnTo>
                    <a:pt x="171450" y="171450"/>
                  </a:lnTo>
                  <a:lnTo>
                    <a:pt x="228600" y="171450"/>
                  </a:lnTo>
                  <a:close/>
                  <a:moveTo>
                    <a:pt x="385762" y="228600"/>
                  </a:moveTo>
                  <a:lnTo>
                    <a:pt x="357188" y="228600"/>
                  </a:lnTo>
                  <a:lnTo>
                    <a:pt x="357188" y="171450"/>
                  </a:lnTo>
                  <a:lnTo>
                    <a:pt x="385762" y="171450"/>
                  </a:lnTo>
                  <a:cubicBezTo>
                    <a:pt x="393653" y="171450"/>
                    <a:pt x="400050" y="165053"/>
                    <a:pt x="400050" y="157162"/>
                  </a:cubicBezTo>
                  <a:cubicBezTo>
                    <a:pt x="400050" y="149272"/>
                    <a:pt x="393653" y="142875"/>
                    <a:pt x="385762" y="142875"/>
                  </a:cubicBezTo>
                  <a:lnTo>
                    <a:pt x="357188" y="142875"/>
                  </a:lnTo>
                  <a:lnTo>
                    <a:pt x="357188" y="71438"/>
                  </a:lnTo>
                  <a:cubicBezTo>
                    <a:pt x="357188" y="55656"/>
                    <a:pt x="344394" y="42862"/>
                    <a:pt x="328612" y="42862"/>
                  </a:cubicBezTo>
                  <a:lnTo>
                    <a:pt x="257175" y="42862"/>
                  </a:lnTo>
                  <a:lnTo>
                    <a:pt x="257175" y="14288"/>
                  </a:lnTo>
                  <a:cubicBezTo>
                    <a:pt x="257175" y="6397"/>
                    <a:pt x="250778" y="0"/>
                    <a:pt x="242888" y="0"/>
                  </a:cubicBezTo>
                  <a:cubicBezTo>
                    <a:pt x="234997" y="0"/>
                    <a:pt x="228600" y="6397"/>
                    <a:pt x="228600" y="14288"/>
                  </a:cubicBezTo>
                  <a:lnTo>
                    <a:pt x="228600" y="42862"/>
                  </a:lnTo>
                  <a:lnTo>
                    <a:pt x="171450" y="42862"/>
                  </a:lnTo>
                  <a:lnTo>
                    <a:pt x="171450" y="14288"/>
                  </a:lnTo>
                  <a:cubicBezTo>
                    <a:pt x="171450" y="6397"/>
                    <a:pt x="165053" y="0"/>
                    <a:pt x="157162" y="0"/>
                  </a:cubicBezTo>
                  <a:cubicBezTo>
                    <a:pt x="149272" y="0"/>
                    <a:pt x="142875" y="6397"/>
                    <a:pt x="142875" y="14288"/>
                  </a:cubicBezTo>
                  <a:lnTo>
                    <a:pt x="142875" y="42862"/>
                  </a:lnTo>
                  <a:lnTo>
                    <a:pt x="71438" y="42862"/>
                  </a:lnTo>
                  <a:cubicBezTo>
                    <a:pt x="55656" y="42862"/>
                    <a:pt x="42862" y="55656"/>
                    <a:pt x="42862" y="71438"/>
                  </a:cubicBezTo>
                  <a:lnTo>
                    <a:pt x="42862" y="142875"/>
                  </a:lnTo>
                  <a:lnTo>
                    <a:pt x="14288" y="142875"/>
                  </a:lnTo>
                  <a:cubicBezTo>
                    <a:pt x="6397" y="142875"/>
                    <a:pt x="0" y="149272"/>
                    <a:pt x="0" y="157162"/>
                  </a:cubicBezTo>
                  <a:cubicBezTo>
                    <a:pt x="0" y="165053"/>
                    <a:pt x="6397" y="171450"/>
                    <a:pt x="14288" y="171450"/>
                  </a:cubicBezTo>
                  <a:lnTo>
                    <a:pt x="42862" y="171450"/>
                  </a:lnTo>
                  <a:lnTo>
                    <a:pt x="42862" y="228600"/>
                  </a:lnTo>
                  <a:lnTo>
                    <a:pt x="14288" y="228600"/>
                  </a:lnTo>
                  <a:cubicBezTo>
                    <a:pt x="6397" y="228600"/>
                    <a:pt x="0" y="234997"/>
                    <a:pt x="0" y="242888"/>
                  </a:cubicBezTo>
                  <a:cubicBezTo>
                    <a:pt x="0" y="250778"/>
                    <a:pt x="6397" y="257175"/>
                    <a:pt x="14288" y="257175"/>
                  </a:cubicBezTo>
                  <a:lnTo>
                    <a:pt x="42862" y="257175"/>
                  </a:lnTo>
                  <a:lnTo>
                    <a:pt x="42862" y="328612"/>
                  </a:lnTo>
                  <a:cubicBezTo>
                    <a:pt x="42862" y="344394"/>
                    <a:pt x="55656" y="357188"/>
                    <a:pt x="71438" y="357188"/>
                  </a:cubicBezTo>
                  <a:lnTo>
                    <a:pt x="142875" y="357188"/>
                  </a:lnTo>
                  <a:lnTo>
                    <a:pt x="142875" y="385762"/>
                  </a:lnTo>
                  <a:cubicBezTo>
                    <a:pt x="142875" y="393653"/>
                    <a:pt x="149272" y="400050"/>
                    <a:pt x="157162" y="400050"/>
                  </a:cubicBezTo>
                  <a:cubicBezTo>
                    <a:pt x="165053" y="400050"/>
                    <a:pt x="171450" y="393653"/>
                    <a:pt x="171450" y="385762"/>
                  </a:cubicBezTo>
                  <a:lnTo>
                    <a:pt x="171450" y="357188"/>
                  </a:lnTo>
                  <a:lnTo>
                    <a:pt x="228600" y="357188"/>
                  </a:lnTo>
                  <a:lnTo>
                    <a:pt x="228600" y="385762"/>
                  </a:lnTo>
                  <a:cubicBezTo>
                    <a:pt x="228600" y="393653"/>
                    <a:pt x="234997" y="400050"/>
                    <a:pt x="242888" y="400050"/>
                  </a:cubicBezTo>
                  <a:cubicBezTo>
                    <a:pt x="250778" y="400050"/>
                    <a:pt x="257175" y="393653"/>
                    <a:pt x="257175" y="385762"/>
                  </a:cubicBezTo>
                  <a:lnTo>
                    <a:pt x="257175" y="357188"/>
                  </a:lnTo>
                  <a:lnTo>
                    <a:pt x="328612" y="357188"/>
                  </a:lnTo>
                  <a:cubicBezTo>
                    <a:pt x="344394" y="357188"/>
                    <a:pt x="357188" y="344394"/>
                    <a:pt x="357188" y="328612"/>
                  </a:cubicBezTo>
                  <a:lnTo>
                    <a:pt x="357188" y="257175"/>
                  </a:lnTo>
                  <a:lnTo>
                    <a:pt x="385762" y="257175"/>
                  </a:lnTo>
                  <a:cubicBezTo>
                    <a:pt x="393653" y="257175"/>
                    <a:pt x="400050" y="250778"/>
                    <a:pt x="400050" y="242888"/>
                  </a:cubicBezTo>
                  <a:cubicBezTo>
                    <a:pt x="400050" y="234997"/>
                    <a:pt x="393653" y="228600"/>
                    <a:pt x="385762" y="228600"/>
                  </a:cubicBezTo>
                  <a:close/>
                  <a:moveTo>
                    <a:pt x="328612" y="328612"/>
                  </a:moveTo>
                  <a:lnTo>
                    <a:pt x="71438" y="328612"/>
                  </a:lnTo>
                  <a:lnTo>
                    <a:pt x="71438" y="71438"/>
                  </a:lnTo>
                  <a:lnTo>
                    <a:pt x="328612" y="71438"/>
                  </a:lnTo>
                  <a:lnTo>
                    <a:pt x="328612" y="242655"/>
                  </a:lnTo>
                  <a:cubicBezTo>
                    <a:pt x="328612" y="242655"/>
                    <a:pt x="328612" y="242816"/>
                    <a:pt x="328612" y="242888"/>
                  </a:cubicBezTo>
                  <a:cubicBezTo>
                    <a:pt x="328612" y="242959"/>
                    <a:pt x="328612" y="243048"/>
                    <a:pt x="328612" y="243120"/>
                  </a:cubicBezTo>
                  <a:lnTo>
                    <a:pt x="328612" y="328612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3569018" y="3095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量化压缩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409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降低显存带宽</a:t>
            </a:r>
          </a:p>
        </p:txBody>
      </p:sp>
      <p:sp>
        <p:nvSpPr>
          <p:cNvPr id="19" name="Polygon 19"/>
          <p:cNvSpPr/>
          <p:nvPr/>
        </p:nvSpPr>
        <p:spPr>
          <a:xfrm>
            <a:off x="51625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56197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6323350" y="2566408"/>
            <a:ext cx="402523" cy="372651"/>
            <a:chOff x="6323350" y="2566408"/>
            <a:chExt cx="402523" cy="372651"/>
          </a:xfrm>
        </p:grpSpPr>
        <p:sp>
          <p:nvSpPr>
            <p:cNvPr id="21" name="Freeform 21"/>
            <p:cNvSpPr/>
            <p:nvPr/>
          </p:nvSpPr>
          <p:spPr>
            <a:xfrm>
              <a:off x="6337780" y="2581275"/>
              <a:ext cx="373666" cy="342900"/>
            </a:xfrm>
            <a:custGeom>
              <a:avLst/>
              <a:gdLst/>
              <a:ahLst/>
              <a:cxnLst/>
              <a:rect l="l" t="t" r="r" b="b"/>
              <a:pathLst>
                <a:path w="373666" h="342900">
                  <a:moveTo>
                    <a:pt x="369189" y="137089"/>
                  </a:moveTo>
                  <a:lnTo>
                    <a:pt x="312307" y="104692"/>
                  </a:lnTo>
                  <a:cubicBezTo>
                    <a:pt x="311164" y="102620"/>
                    <a:pt x="309968" y="100602"/>
                    <a:pt x="308735" y="98602"/>
                  </a:cubicBezTo>
                  <a:lnTo>
                    <a:pt x="308521" y="34308"/>
                  </a:lnTo>
                  <a:cubicBezTo>
                    <a:pt x="290544" y="19137"/>
                    <a:pt x="269864" y="7497"/>
                    <a:pt x="247567" y="0"/>
                  </a:cubicBezTo>
                  <a:lnTo>
                    <a:pt x="190417" y="31950"/>
                  </a:lnTo>
                  <a:cubicBezTo>
                    <a:pt x="188024" y="31950"/>
                    <a:pt x="185613" y="31950"/>
                    <a:pt x="183273" y="31950"/>
                  </a:cubicBezTo>
                  <a:lnTo>
                    <a:pt x="126123" y="0"/>
                  </a:lnTo>
                  <a:cubicBezTo>
                    <a:pt x="103833" y="7521"/>
                    <a:pt x="83165" y="19185"/>
                    <a:pt x="65205" y="34379"/>
                  </a:cubicBezTo>
                  <a:lnTo>
                    <a:pt x="64919" y="98673"/>
                  </a:lnTo>
                  <a:cubicBezTo>
                    <a:pt x="63669" y="100673"/>
                    <a:pt x="62473" y="102709"/>
                    <a:pt x="61347" y="104763"/>
                  </a:cubicBezTo>
                  <a:lnTo>
                    <a:pt x="4483" y="137089"/>
                  </a:lnTo>
                  <a:cubicBezTo>
                    <a:pt x="0" y="159765"/>
                    <a:pt x="0" y="183099"/>
                    <a:pt x="4483" y="205776"/>
                  </a:cubicBezTo>
                  <a:lnTo>
                    <a:pt x="61365" y="238173"/>
                  </a:lnTo>
                  <a:cubicBezTo>
                    <a:pt x="62508" y="240244"/>
                    <a:pt x="63705" y="242262"/>
                    <a:pt x="64937" y="244263"/>
                  </a:cubicBezTo>
                  <a:lnTo>
                    <a:pt x="65151" y="308556"/>
                  </a:lnTo>
                  <a:cubicBezTo>
                    <a:pt x="83131" y="323742"/>
                    <a:pt x="103818" y="335395"/>
                    <a:pt x="126123" y="342900"/>
                  </a:cubicBezTo>
                  <a:lnTo>
                    <a:pt x="183273" y="310985"/>
                  </a:lnTo>
                  <a:cubicBezTo>
                    <a:pt x="185667" y="310985"/>
                    <a:pt x="188078" y="310985"/>
                    <a:pt x="190417" y="310985"/>
                  </a:cubicBezTo>
                  <a:lnTo>
                    <a:pt x="247567" y="342900"/>
                  </a:lnTo>
                  <a:cubicBezTo>
                    <a:pt x="269838" y="335373"/>
                    <a:pt x="290488" y="323709"/>
                    <a:pt x="308432" y="308521"/>
                  </a:cubicBezTo>
                  <a:lnTo>
                    <a:pt x="308718" y="244227"/>
                  </a:lnTo>
                  <a:cubicBezTo>
                    <a:pt x="309968" y="242227"/>
                    <a:pt x="311164" y="240191"/>
                    <a:pt x="312289" y="238137"/>
                  </a:cubicBezTo>
                  <a:lnTo>
                    <a:pt x="369154" y="205811"/>
                  </a:lnTo>
                  <a:cubicBezTo>
                    <a:pt x="373653" y="183126"/>
                    <a:pt x="373666" y="159779"/>
                    <a:pt x="369189" y="137089"/>
                  </a:cubicBezTo>
                  <a:close/>
                  <a:moveTo>
                    <a:pt x="186845" y="242888"/>
                  </a:moveTo>
                  <a:cubicBezTo>
                    <a:pt x="147391" y="242888"/>
                    <a:pt x="115408" y="210904"/>
                    <a:pt x="115408" y="171450"/>
                  </a:cubicBezTo>
                  <a:cubicBezTo>
                    <a:pt x="115408" y="131996"/>
                    <a:pt x="147391" y="100012"/>
                    <a:pt x="186845" y="100012"/>
                  </a:cubicBezTo>
                  <a:cubicBezTo>
                    <a:pt x="226299" y="100012"/>
                    <a:pt x="258283" y="131996"/>
                    <a:pt x="258283" y="171450"/>
                  </a:cubicBezTo>
                  <a:cubicBezTo>
                    <a:pt x="258283" y="210904"/>
                    <a:pt x="226299" y="242888"/>
                    <a:pt x="186845" y="2428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323350" y="2566408"/>
              <a:ext cx="402523" cy="372651"/>
            </a:xfrm>
            <a:custGeom>
              <a:avLst/>
              <a:gdLst/>
              <a:ahLst/>
              <a:cxnLst/>
              <a:rect l="l" t="t" r="r" b="b"/>
              <a:pathLst>
                <a:path w="402523" h="372651">
                  <a:moveTo>
                    <a:pt x="201275" y="100592"/>
                  </a:moveTo>
                  <a:cubicBezTo>
                    <a:pt x="153931" y="100592"/>
                    <a:pt x="115550" y="138972"/>
                    <a:pt x="115550" y="186317"/>
                  </a:cubicBezTo>
                  <a:cubicBezTo>
                    <a:pt x="115550" y="233661"/>
                    <a:pt x="153931" y="272042"/>
                    <a:pt x="201275" y="272042"/>
                  </a:cubicBezTo>
                  <a:cubicBezTo>
                    <a:pt x="248620" y="272042"/>
                    <a:pt x="287000" y="233661"/>
                    <a:pt x="287000" y="186317"/>
                  </a:cubicBezTo>
                  <a:cubicBezTo>
                    <a:pt x="286951" y="138992"/>
                    <a:pt x="248599" y="100641"/>
                    <a:pt x="201275" y="100592"/>
                  </a:cubicBezTo>
                  <a:close/>
                  <a:moveTo>
                    <a:pt x="201275" y="243467"/>
                  </a:moveTo>
                  <a:cubicBezTo>
                    <a:pt x="169712" y="243467"/>
                    <a:pt x="144125" y="217880"/>
                    <a:pt x="144125" y="186317"/>
                  </a:cubicBezTo>
                  <a:cubicBezTo>
                    <a:pt x="144125" y="154754"/>
                    <a:pt x="169712" y="129167"/>
                    <a:pt x="201275" y="129167"/>
                  </a:cubicBezTo>
                  <a:cubicBezTo>
                    <a:pt x="232838" y="129167"/>
                    <a:pt x="258425" y="154754"/>
                    <a:pt x="258425" y="186317"/>
                  </a:cubicBezTo>
                  <a:cubicBezTo>
                    <a:pt x="258425" y="217880"/>
                    <a:pt x="232838" y="243467"/>
                    <a:pt x="201275" y="243467"/>
                  </a:cubicBezTo>
                  <a:close/>
                  <a:moveTo>
                    <a:pt x="397621" y="149187"/>
                  </a:moveTo>
                  <a:cubicBezTo>
                    <a:pt x="396816" y="145116"/>
                    <a:pt x="394280" y="141596"/>
                    <a:pt x="390674" y="139543"/>
                  </a:cubicBezTo>
                  <a:lnTo>
                    <a:pt x="337399" y="109182"/>
                  </a:lnTo>
                  <a:lnTo>
                    <a:pt x="337185" y="49139"/>
                  </a:lnTo>
                  <a:cubicBezTo>
                    <a:pt x="337172" y="44954"/>
                    <a:pt x="335325" y="40985"/>
                    <a:pt x="332131" y="38280"/>
                  </a:cubicBezTo>
                  <a:cubicBezTo>
                    <a:pt x="312806" y="21934"/>
                    <a:pt x="290551" y="9406"/>
                    <a:pt x="266551" y="1365"/>
                  </a:cubicBezTo>
                  <a:cubicBezTo>
                    <a:pt x="262729" y="71"/>
                    <a:pt x="258538" y="454"/>
                    <a:pt x="255014" y="2419"/>
                  </a:cubicBezTo>
                  <a:lnTo>
                    <a:pt x="201275" y="32458"/>
                  </a:lnTo>
                  <a:lnTo>
                    <a:pt x="147483" y="2365"/>
                  </a:lnTo>
                  <a:cubicBezTo>
                    <a:pt x="143956" y="389"/>
                    <a:pt x="139758" y="0"/>
                    <a:pt x="135928" y="1294"/>
                  </a:cubicBezTo>
                  <a:cubicBezTo>
                    <a:pt x="111942" y="9387"/>
                    <a:pt x="89712" y="21962"/>
                    <a:pt x="70420" y="38352"/>
                  </a:cubicBezTo>
                  <a:cubicBezTo>
                    <a:pt x="67231" y="41052"/>
                    <a:pt x="65384" y="45014"/>
                    <a:pt x="65365" y="49192"/>
                  </a:cubicBezTo>
                  <a:lnTo>
                    <a:pt x="65097" y="109289"/>
                  </a:lnTo>
                  <a:lnTo>
                    <a:pt x="11823" y="139650"/>
                  </a:lnTo>
                  <a:cubicBezTo>
                    <a:pt x="8216" y="141703"/>
                    <a:pt x="5681" y="145223"/>
                    <a:pt x="4876" y="149294"/>
                  </a:cubicBezTo>
                  <a:cubicBezTo>
                    <a:pt x="0" y="173795"/>
                    <a:pt x="0" y="199017"/>
                    <a:pt x="4876" y="223518"/>
                  </a:cubicBezTo>
                  <a:cubicBezTo>
                    <a:pt x="5681" y="227589"/>
                    <a:pt x="8216" y="231109"/>
                    <a:pt x="11823" y="233162"/>
                  </a:cubicBezTo>
                  <a:lnTo>
                    <a:pt x="65097" y="263523"/>
                  </a:lnTo>
                  <a:lnTo>
                    <a:pt x="65312" y="323584"/>
                  </a:lnTo>
                  <a:cubicBezTo>
                    <a:pt x="65325" y="327769"/>
                    <a:pt x="67172" y="331738"/>
                    <a:pt x="70366" y="334442"/>
                  </a:cubicBezTo>
                  <a:cubicBezTo>
                    <a:pt x="89691" y="350789"/>
                    <a:pt x="111945" y="363316"/>
                    <a:pt x="135946" y="371358"/>
                  </a:cubicBezTo>
                  <a:cubicBezTo>
                    <a:pt x="139768" y="372651"/>
                    <a:pt x="143958" y="372269"/>
                    <a:pt x="147483" y="370304"/>
                  </a:cubicBezTo>
                  <a:lnTo>
                    <a:pt x="201275" y="340175"/>
                  </a:lnTo>
                  <a:lnTo>
                    <a:pt x="255068" y="370268"/>
                  </a:lnTo>
                  <a:cubicBezTo>
                    <a:pt x="257196" y="371454"/>
                    <a:pt x="259596" y="372070"/>
                    <a:pt x="262033" y="372054"/>
                  </a:cubicBezTo>
                  <a:cubicBezTo>
                    <a:pt x="263593" y="372054"/>
                    <a:pt x="265143" y="371800"/>
                    <a:pt x="266623" y="371304"/>
                  </a:cubicBezTo>
                  <a:cubicBezTo>
                    <a:pt x="290602" y="363215"/>
                    <a:pt x="312831" y="350652"/>
                    <a:pt x="332131" y="334282"/>
                  </a:cubicBezTo>
                  <a:cubicBezTo>
                    <a:pt x="335320" y="331581"/>
                    <a:pt x="337167" y="327620"/>
                    <a:pt x="337185" y="323441"/>
                  </a:cubicBezTo>
                  <a:lnTo>
                    <a:pt x="337453" y="263344"/>
                  </a:lnTo>
                  <a:lnTo>
                    <a:pt x="390727" y="232983"/>
                  </a:lnTo>
                  <a:cubicBezTo>
                    <a:pt x="394334" y="230930"/>
                    <a:pt x="396870" y="227410"/>
                    <a:pt x="397675" y="223339"/>
                  </a:cubicBezTo>
                  <a:cubicBezTo>
                    <a:pt x="402523" y="198858"/>
                    <a:pt x="402505" y="173661"/>
                    <a:pt x="397621" y="149187"/>
                  </a:cubicBezTo>
                  <a:close/>
                  <a:moveTo>
                    <a:pt x="370832" y="211534"/>
                  </a:moveTo>
                  <a:lnTo>
                    <a:pt x="319808" y="240556"/>
                  </a:lnTo>
                  <a:cubicBezTo>
                    <a:pt x="317572" y="241827"/>
                    <a:pt x="315721" y="243678"/>
                    <a:pt x="314450" y="245913"/>
                  </a:cubicBezTo>
                  <a:cubicBezTo>
                    <a:pt x="313414" y="247699"/>
                    <a:pt x="312325" y="249592"/>
                    <a:pt x="311218" y="251378"/>
                  </a:cubicBezTo>
                  <a:cubicBezTo>
                    <a:pt x="309800" y="253631"/>
                    <a:pt x="309045" y="256236"/>
                    <a:pt x="309039" y="258897"/>
                  </a:cubicBezTo>
                  <a:lnTo>
                    <a:pt x="308771" y="316494"/>
                  </a:lnTo>
                  <a:cubicBezTo>
                    <a:pt x="295056" y="327264"/>
                    <a:pt x="279777" y="335876"/>
                    <a:pt x="263462" y="342033"/>
                  </a:cubicBezTo>
                  <a:lnTo>
                    <a:pt x="211991" y="313350"/>
                  </a:lnTo>
                  <a:cubicBezTo>
                    <a:pt x="209854" y="312168"/>
                    <a:pt x="207450" y="311553"/>
                    <a:pt x="205008" y="311564"/>
                  </a:cubicBezTo>
                  <a:lnTo>
                    <a:pt x="204669" y="311564"/>
                  </a:lnTo>
                  <a:cubicBezTo>
                    <a:pt x="202508" y="311564"/>
                    <a:pt x="200329" y="311564"/>
                    <a:pt x="198168" y="311564"/>
                  </a:cubicBezTo>
                  <a:cubicBezTo>
                    <a:pt x="195612" y="311502"/>
                    <a:pt x="193085" y="312119"/>
                    <a:pt x="190845" y="313350"/>
                  </a:cubicBezTo>
                  <a:lnTo>
                    <a:pt x="139339" y="342104"/>
                  </a:lnTo>
                  <a:cubicBezTo>
                    <a:pt x="122989" y="335995"/>
                    <a:pt x="107668" y="327425"/>
                    <a:pt x="93905" y="316690"/>
                  </a:cubicBezTo>
                  <a:lnTo>
                    <a:pt x="93708" y="259183"/>
                  </a:lnTo>
                  <a:cubicBezTo>
                    <a:pt x="93699" y="256517"/>
                    <a:pt x="92945" y="253906"/>
                    <a:pt x="91529" y="251646"/>
                  </a:cubicBezTo>
                  <a:cubicBezTo>
                    <a:pt x="90422" y="249860"/>
                    <a:pt x="89333" y="248074"/>
                    <a:pt x="88315" y="246181"/>
                  </a:cubicBezTo>
                  <a:cubicBezTo>
                    <a:pt x="87052" y="243911"/>
                    <a:pt x="85202" y="242023"/>
                    <a:pt x="82957" y="240716"/>
                  </a:cubicBezTo>
                  <a:lnTo>
                    <a:pt x="31879" y="211623"/>
                  </a:lnTo>
                  <a:cubicBezTo>
                    <a:pt x="29236" y="194904"/>
                    <a:pt x="29236" y="177873"/>
                    <a:pt x="31879" y="161153"/>
                  </a:cubicBezTo>
                  <a:lnTo>
                    <a:pt x="82814" y="132078"/>
                  </a:lnTo>
                  <a:cubicBezTo>
                    <a:pt x="85050" y="130807"/>
                    <a:pt x="86901" y="128956"/>
                    <a:pt x="88172" y="126720"/>
                  </a:cubicBezTo>
                  <a:cubicBezTo>
                    <a:pt x="89208" y="124934"/>
                    <a:pt x="90297" y="123041"/>
                    <a:pt x="91404" y="121255"/>
                  </a:cubicBezTo>
                  <a:cubicBezTo>
                    <a:pt x="92822" y="119003"/>
                    <a:pt x="93577" y="116397"/>
                    <a:pt x="93583" y="113736"/>
                  </a:cubicBezTo>
                  <a:lnTo>
                    <a:pt x="93851" y="56140"/>
                  </a:lnTo>
                  <a:cubicBezTo>
                    <a:pt x="107566" y="45370"/>
                    <a:pt x="122845" y="36757"/>
                    <a:pt x="139160" y="30601"/>
                  </a:cubicBezTo>
                  <a:lnTo>
                    <a:pt x="190560" y="59283"/>
                  </a:lnTo>
                  <a:cubicBezTo>
                    <a:pt x="192797" y="60523"/>
                    <a:pt x="195325" y="61140"/>
                    <a:pt x="197882" y="61069"/>
                  </a:cubicBezTo>
                  <a:cubicBezTo>
                    <a:pt x="200043" y="61069"/>
                    <a:pt x="202222" y="61069"/>
                    <a:pt x="204383" y="61069"/>
                  </a:cubicBezTo>
                  <a:cubicBezTo>
                    <a:pt x="206939" y="61140"/>
                    <a:pt x="209468" y="60523"/>
                    <a:pt x="211705" y="59283"/>
                  </a:cubicBezTo>
                  <a:lnTo>
                    <a:pt x="263212" y="30529"/>
                  </a:lnTo>
                  <a:cubicBezTo>
                    <a:pt x="279562" y="36639"/>
                    <a:pt x="294883" y="45209"/>
                    <a:pt x="308646" y="55943"/>
                  </a:cubicBezTo>
                  <a:lnTo>
                    <a:pt x="308842" y="113450"/>
                  </a:lnTo>
                  <a:cubicBezTo>
                    <a:pt x="308851" y="116117"/>
                    <a:pt x="309606" y="118727"/>
                    <a:pt x="311021" y="120987"/>
                  </a:cubicBezTo>
                  <a:cubicBezTo>
                    <a:pt x="312128" y="122773"/>
                    <a:pt x="313218" y="124559"/>
                    <a:pt x="314236" y="126452"/>
                  </a:cubicBezTo>
                  <a:cubicBezTo>
                    <a:pt x="315498" y="128722"/>
                    <a:pt x="317349" y="130610"/>
                    <a:pt x="319594" y="131917"/>
                  </a:cubicBezTo>
                  <a:lnTo>
                    <a:pt x="370671" y="161010"/>
                  </a:lnTo>
                  <a:cubicBezTo>
                    <a:pt x="373350" y="177742"/>
                    <a:pt x="373380" y="194792"/>
                    <a:pt x="370761" y="21153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988010" y="3095625"/>
            <a:ext cx="10732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LoRA 适配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174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训练垂直角色</a:t>
            </a:r>
          </a:p>
        </p:txBody>
      </p:sp>
      <p:sp>
        <p:nvSpPr>
          <p:cNvPr id="26" name="Polygon 26"/>
          <p:cNvSpPr/>
          <p:nvPr/>
        </p:nvSpPr>
        <p:spPr>
          <a:xfrm>
            <a:off x="76390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0962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786436" y="2594159"/>
            <a:ext cx="429013" cy="318836"/>
            <a:chOff x="8786436" y="2594159"/>
            <a:chExt cx="429013" cy="318836"/>
          </a:xfrm>
        </p:grpSpPr>
        <p:sp>
          <p:nvSpPr>
            <p:cNvPr id="28" name="Freeform 28"/>
            <p:cNvSpPr/>
            <p:nvPr/>
          </p:nvSpPr>
          <p:spPr>
            <a:xfrm>
              <a:off x="8801100" y="2781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88713"/>
                    <a:pt x="88713" y="114300"/>
                    <a:pt x="57150" y="114300"/>
                  </a:cubicBezTo>
                  <a:cubicBezTo>
                    <a:pt x="25587" y="114300"/>
                    <a:pt x="0" y="88713"/>
                    <a:pt x="0" y="57150"/>
                  </a:cubicBezTo>
                  <a:cubicBezTo>
                    <a:pt x="0" y="25587"/>
                    <a:pt x="25587" y="0"/>
                    <a:pt x="57150" y="0"/>
                  </a:cubicBezTo>
                  <a:cubicBezTo>
                    <a:pt x="88713" y="0"/>
                    <a:pt x="114300" y="25587"/>
                    <a:pt x="114300" y="5715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786436" y="2594159"/>
              <a:ext cx="429013" cy="318836"/>
            </a:xfrm>
            <a:custGeom>
              <a:avLst/>
              <a:gdLst/>
              <a:ahLst/>
              <a:cxnLst/>
              <a:rect l="l" t="t" r="r" b="b"/>
              <a:pathLst>
                <a:path w="429013" h="318836">
                  <a:moveTo>
                    <a:pt x="424822" y="62733"/>
                  </a:moveTo>
                  <a:lnTo>
                    <a:pt x="367672" y="5583"/>
                  </a:lnTo>
                  <a:cubicBezTo>
                    <a:pt x="362089" y="0"/>
                    <a:pt x="353038" y="0"/>
                    <a:pt x="347455" y="5583"/>
                  </a:cubicBezTo>
                  <a:cubicBezTo>
                    <a:pt x="341873" y="11165"/>
                    <a:pt x="341873" y="20217"/>
                    <a:pt x="347455" y="25800"/>
                  </a:cubicBezTo>
                  <a:lnTo>
                    <a:pt x="380227" y="58554"/>
                  </a:lnTo>
                  <a:lnTo>
                    <a:pt x="328989" y="58554"/>
                  </a:lnTo>
                  <a:cubicBezTo>
                    <a:pt x="311485" y="59188"/>
                    <a:pt x="294279" y="63273"/>
                    <a:pt x="278357" y="70573"/>
                  </a:cubicBezTo>
                  <a:cubicBezTo>
                    <a:pt x="254033" y="81807"/>
                    <a:pt x="223297" y="105774"/>
                    <a:pt x="214885" y="156298"/>
                  </a:cubicBezTo>
                  <a:cubicBezTo>
                    <a:pt x="205384" y="213323"/>
                    <a:pt x="162914" y="226342"/>
                    <a:pt x="141662" y="229271"/>
                  </a:cubicBezTo>
                  <a:cubicBezTo>
                    <a:pt x="133899" y="193440"/>
                    <a:pt x="100272" y="169301"/>
                    <a:pt x="63840" y="173409"/>
                  </a:cubicBezTo>
                  <a:cubicBezTo>
                    <a:pt x="27408" y="177517"/>
                    <a:pt x="0" y="208537"/>
                    <a:pt x="411" y="245197"/>
                  </a:cubicBezTo>
                  <a:cubicBezTo>
                    <a:pt x="822" y="281858"/>
                    <a:pt x="28918" y="312256"/>
                    <a:pt x="65433" y="315546"/>
                  </a:cubicBezTo>
                  <a:cubicBezTo>
                    <a:pt x="101948" y="318836"/>
                    <a:pt x="135026" y="293950"/>
                    <a:pt x="141983" y="257954"/>
                  </a:cubicBezTo>
                  <a:cubicBezTo>
                    <a:pt x="154828" y="256489"/>
                    <a:pt x="167377" y="253087"/>
                    <a:pt x="179202" y="247863"/>
                  </a:cubicBezTo>
                  <a:cubicBezTo>
                    <a:pt x="203527" y="237147"/>
                    <a:pt x="234334" y="213216"/>
                    <a:pt x="243067" y="160906"/>
                  </a:cubicBezTo>
                  <a:cubicBezTo>
                    <a:pt x="255140" y="88504"/>
                    <a:pt x="326024" y="87129"/>
                    <a:pt x="328989" y="87129"/>
                  </a:cubicBezTo>
                  <a:lnTo>
                    <a:pt x="380227" y="87129"/>
                  </a:lnTo>
                  <a:lnTo>
                    <a:pt x="347455" y="119883"/>
                  </a:lnTo>
                  <a:cubicBezTo>
                    <a:pt x="341873" y="125465"/>
                    <a:pt x="341873" y="134517"/>
                    <a:pt x="347455" y="140100"/>
                  </a:cubicBezTo>
                  <a:cubicBezTo>
                    <a:pt x="353038" y="145682"/>
                    <a:pt x="362089" y="145682"/>
                    <a:pt x="367672" y="140100"/>
                  </a:cubicBezTo>
                  <a:lnTo>
                    <a:pt x="424822" y="82950"/>
                  </a:lnTo>
                  <a:cubicBezTo>
                    <a:pt x="427505" y="80270"/>
                    <a:pt x="429013" y="76633"/>
                    <a:pt x="429013" y="72841"/>
                  </a:cubicBezTo>
                  <a:cubicBezTo>
                    <a:pt x="429013" y="69049"/>
                    <a:pt x="427505" y="65413"/>
                    <a:pt x="424822" y="62733"/>
                  </a:cubicBezTo>
                  <a:close/>
                  <a:moveTo>
                    <a:pt x="71814" y="287154"/>
                  </a:moveTo>
                  <a:cubicBezTo>
                    <a:pt x="48141" y="287154"/>
                    <a:pt x="28951" y="267963"/>
                    <a:pt x="28951" y="244291"/>
                  </a:cubicBezTo>
                  <a:cubicBezTo>
                    <a:pt x="28951" y="220619"/>
                    <a:pt x="48141" y="201429"/>
                    <a:pt x="71814" y="201429"/>
                  </a:cubicBezTo>
                  <a:cubicBezTo>
                    <a:pt x="95486" y="201429"/>
                    <a:pt x="114676" y="220619"/>
                    <a:pt x="114676" y="244291"/>
                  </a:cubicBezTo>
                  <a:cubicBezTo>
                    <a:pt x="114676" y="267963"/>
                    <a:pt x="95486" y="287154"/>
                    <a:pt x="71814" y="28715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8522018" y="3095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模型路由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939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大小模型分层</a:t>
            </a:r>
          </a:p>
        </p:txBody>
      </p:sp>
      <p:sp>
        <p:nvSpPr>
          <p:cNvPr id="33" name="Polygon 33"/>
          <p:cNvSpPr/>
          <p:nvPr/>
        </p:nvSpPr>
        <p:spPr>
          <a:xfrm>
            <a:off x="101155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10572750" y="2286000"/>
            <a:ext cx="1143000" cy="1695450"/>
          </a:xfrm>
          <a:custGeom>
            <a:avLst/>
            <a:gdLst/>
            <a:ahLst/>
            <a:cxnLst/>
            <a:rect l="l" t="t" r="r" b="b"/>
            <a:pathLst>
              <a:path w="1143000" h="1695450">
                <a:moveTo>
                  <a:pt x="171450" y="0"/>
                </a:moveTo>
                <a:lnTo>
                  <a:pt x="971550" y="0"/>
                </a:lnTo>
                <a:cubicBezTo>
                  <a:pt x="1066239" y="0"/>
                  <a:pt x="1143000" y="76761"/>
                  <a:pt x="1143000" y="171450"/>
                </a:cubicBezTo>
                <a:lnTo>
                  <a:pt x="1143000" y="1524000"/>
                </a:lnTo>
                <a:cubicBezTo>
                  <a:pt x="1143000" y="1618689"/>
                  <a:pt x="1066239" y="1695450"/>
                  <a:pt x="97155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10972800" y="2566988"/>
            <a:ext cx="342900" cy="371475"/>
            <a:chOff x="10972800" y="2566988"/>
            <a:chExt cx="342900" cy="371475"/>
          </a:xfrm>
        </p:grpSpPr>
        <p:sp>
          <p:nvSpPr>
            <p:cNvPr id="35" name="Freeform 35"/>
            <p:cNvSpPr/>
            <p:nvPr/>
          </p:nvSpPr>
          <p:spPr>
            <a:xfrm>
              <a:off x="10987088" y="2581275"/>
              <a:ext cx="314325" cy="171450"/>
            </a:xfrm>
            <a:custGeom>
              <a:avLst/>
              <a:gdLst/>
              <a:ahLst/>
              <a:cxnLst/>
              <a:rect l="l" t="t" r="r" b="b"/>
              <a:pathLst>
                <a:path w="314325" h="171450">
                  <a:moveTo>
                    <a:pt x="314325" y="85725"/>
                  </a:moveTo>
                  <a:cubicBezTo>
                    <a:pt x="314325" y="133070"/>
                    <a:pt x="243959" y="171450"/>
                    <a:pt x="157162" y="171450"/>
                  </a:cubicBezTo>
                  <a:cubicBezTo>
                    <a:pt x="70366" y="171450"/>
                    <a:pt x="0" y="133070"/>
                    <a:pt x="0" y="85725"/>
                  </a:cubicBezTo>
                  <a:cubicBezTo>
                    <a:pt x="0" y="38380"/>
                    <a:pt x="70366" y="0"/>
                    <a:pt x="157162" y="0"/>
                  </a:cubicBezTo>
                  <a:cubicBezTo>
                    <a:pt x="243959" y="0"/>
                    <a:pt x="314325" y="38380"/>
                    <a:pt x="314325" y="85725"/>
                  </a:cubicBez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972800" y="2566988"/>
              <a:ext cx="342900" cy="371475"/>
            </a:xfrm>
            <a:custGeom>
              <a:avLst/>
              <a:gdLst/>
              <a:ahLst/>
              <a:cxnLst/>
              <a:rect l="l" t="t" r="r" b="b"/>
              <a:pathLst>
                <a:path w="342900" h="371475">
                  <a:moveTo>
                    <a:pt x="171450" y="0"/>
                  </a:moveTo>
                  <a:cubicBezTo>
                    <a:pt x="75313" y="0"/>
                    <a:pt x="0" y="43934"/>
                    <a:pt x="0" y="100012"/>
                  </a:cubicBezTo>
                  <a:lnTo>
                    <a:pt x="0" y="271462"/>
                  </a:lnTo>
                  <a:cubicBezTo>
                    <a:pt x="0" y="327541"/>
                    <a:pt x="75313" y="371475"/>
                    <a:pt x="171450" y="371475"/>
                  </a:cubicBezTo>
                  <a:cubicBezTo>
                    <a:pt x="267587" y="371475"/>
                    <a:pt x="342900" y="327541"/>
                    <a:pt x="342900" y="271462"/>
                  </a:cubicBezTo>
                  <a:lnTo>
                    <a:pt x="342900" y="100012"/>
                  </a:lnTo>
                  <a:cubicBezTo>
                    <a:pt x="342900" y="43934"/>
                    <a:pt x="267587" y="0"/>
                    <a:pt x="171450" y="0"/>
                  </a:cubicBezTo>
                  <a:close/>
                  <a:moveTo>
                    <a:pt x="314325" y="185738"/>
                  </a:moveTo>
                  <a:cubicBezTo>
                    <a:pt x="314325" y="202918"/>
                    <a:pt x="300252" y="220438"/>
                    <a:pt x="275731" y="233815"/>
                  </a:cubicBezTo>
                  <a:cubicBezTo>
                    <a:pt x="248120" y="248870"/>
                    <a:pt x="211080" y="257175"/>
                    <a:pt x="171450" y="257175"/>
                  </a:cubicBezTo>
                  <a:cubicBezTo>
                    <a:pt x="131820" y="257175"/>
                    <a:pt x="94780" y="248870"/>
                    <a:pt x="67169" y="233815"/>
                  </a:cubicBezTo>
                  <a:cubicBezTo>
                    <a:pt x="42648" y="220438"/>
                    <a:pt x="28575" y="202918"/>
                    <a:pt x="28575" y="185738"/>
                  </a:cubicBezTo>
                  <a:lnTo>
                    <a:pt x="28575" y="156019"/>
                  </a:lnTo>
                  <a:cubicBezTo>
                    <a:pt x="59043" y="182809"/>
                    <a:pt x="111139" y="200025"/>
                    <a:pt x="171450" y="200025"/>
                  </a:cubicBezTo>
                  <a:cubicBezTo>
                    <a:pt x="231761" y="200025"/>
                    <a:pt x="283857" y="182737"/>
                    <a:pt x="314325" y="156019"/>
                  </a:cubicBezTo>
                  <a:close/>
                  <a:moveTo>
                    <a:pt x="67169" y="51935"/>
                  </a:moveTo>
                  <a:cubicBezTo>
                    <a:pt x="94780" y="36880"/>
                    <a:pt x="131820" y="28575"/>
                    <a:pt x="171450" y="28575"/>
                  </a:cubicBezTo>
                  <a:cubicBezTo>
                    <a:pt x="211080" y="28575"/>
                    <a:pt x="248120" y="36880"/>
                    <a:pt x="275731" y="51935"/>
                  </a:cubicBezTo>
                  <a:cubicBezTo>
                    <a:pt x="300252" y="65312"/>
                    <a:pt x="314325" y="82832"/>
                    <a:pt x="314325" y="100012"/>
                  </a:cubicBezTo>
                  <a:cubicBezTo>
                    <a:pt x="314325" y="117193"/>
                    <a:pt x="300252" y="134713"/>
                    <a:pt x="275731" y="148090"/>
                  </a:cubicBezTo>
                  <a:cubicBezTo>
                    <a:pt x="248120" y="163145"/>
                    <a:pt x="211080" y="171450"/>
                    <a:pt x="171450" y="171450"/>
                  </a:cubicBezTo>
                  <a:cubicBezTo>
                    <a:pt x="131820" y="171450"/>
                    <a:pt x="94780" y="163145"/>
                    <a:pt x="67169" y="148090"/>
                  </a:cubicBezTo>
                  <a:cubicBezTo>
                    <a:pt x="42648" y="134713"/>
                    <a:pt x="28575" y="117193"/>
                    <a:pt x="28575" y="100012"/>
                  </a:cubicBezTo>
                  <a:cubicBezTo>
                    <a:pt x="28575" y="82832"/>
                    <a:pt x="42648" y="65312"/>
                    <a:pt x="67169" y="51935"/>
                  </a:cubicBezTo>
                  <a:close/>
                  <a:moveTo>
                    <a:pt x="275731" y="319540"/>
                  </a:moveTo>
                  <a:cubicBezTo>
                    <a:pt x="248120" y="334595"/>
                    <a:pt x="211080" y="342900"/>
                    <a:pt x="171450" y="342900"/>
                  </a:cubicBezTo>
                  <a:cubicBezTo>
                    <a:pt x="131820" y="342900"/>
                    <a:pt x="94780" y="334595"/>
                    <a:pt x="67169" y="319540"/>
                  </a:cubicBezTo>
                  <a:cubicBezTo>
                    <a:pt x="42648" y="306163"/>
                    <a:pt x="28575" y="288643"/>
                    <a:pt x="28575" y="271462"/>
                  </a:cubicBezTo>
                  <a:lnTo>
                    <a:pt x="28575" y="241744"/>
                  </a:lnTo>
                  <a:cubicBezTo>
                    <a:pt x="59043" y="268534"/>
                    <a:pt x="111139" y="285750"/>
                    <a:pt x="171450" y="285750"/>
                  </a:cubicBezTo>
                  <a:cubicBezTo>
                    <a:pt x="231761" y="285750"/>
                    <a:pt x="283857" y="268462"/>
                    <a:pt x="314325" y="241744"/>
                  </a:cubicBezTo>
                  <a:lnTo>
                    <a:pt x="314325" y="271462"/>
                  </a:lnTo>
                  <a:cubicBezTo>
                    <a:pt x="314325" y="288643"/>
                    <a:pt x="300252" y="306163"/>
                    <a:pt x="275731" y="319540"/>
                  </a:cubicBez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0935426" y="3095625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01350" y="34504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流程编排</a:t>
            </a:r>
          </a:p>
        </p:txBody>
      </p:sp>
      <p:sp>
        <p:nvSpPr>
          <p:cNvPr id="40" name="Freeform 40"/>
          <p:cNvSpPr/>
          <p:nvPr/>
        </p:nvSpPr>
        <p:spPr>
          <a:xfrm>
            <a:off x="1714500" y="4762500"/>
            <a:ext cx="8763000" cy="628650"/>
          </a:xfrm>
          <a:custGeom>
            <a:avLst/>
            <a:gdLst/>
            <a:ahLst/>
            <a:cxnLst/>
            <a:rect l="l" t="t" r="r" b="b"/>
            <a:pathLst>
              <a:path w="8763000" h="62865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457200"/>
                </a:lnTo>
                <a:cubicBezTo>
                  <a:pt x="8763000" y="551889"/>
                  <a:pt x="8686239" y="628650"/>
                  <a:pt x="8591550" y="628650"/>
                </a:cubicBezTo>
                <a:lnTo>
                  <a:pt x="171450" y="628650"/>
                </a:lnTo>
                <a:cubicBezTo>
                  <a:pt x="76761" y="628650"/>
                  <a:pt x="0" y="551889"/>
                  <a:pt x="0" y="4572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269974" y="4981575"/>
            <a:ext cx="76520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关键不是“模型变小”，而是让模型节点可训练、可部署、可路由、可治理。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 / 10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8667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典型场景：高频、边界清晰、需治理的任务最适配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9906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95250" y="0"/>
                </a:moveTo>
                <a:lnTo>
                  <a:pt x="11029950" y="0"/>
                </a:lnTo>
                <a:cubicBezTo>
                  <a:pt x="11082555" y="0"/>
                  <a:pt x="11125200" y="42645"/>
                  <a:pt x="11125200" y="95250"/>
                </a:cubicBezTo>
                <a:lnTo>
                  <a:pt x="11125200" y="361950"/>
                </a:lnTo>
                <a:cubicBezTo>
                  <a:pt x="11125200" y="414555"/>
                  <a:pt x="11082555" y="457200"/>
                  <a:pt x="11029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1144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应用场景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24200" y="11144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中小模型节点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48450" y="11144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配套机制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01200" y="11144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风险控制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1466850"/>
            <a:ext cx="11125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47712" y="16597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企业知识助手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28962" y="165973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查询改写、检索摘要、权限内回答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3212" y="1659731"/>
            <a:ext cx="16634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RAG 文档库、引用追踪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05962" y="16597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权限过滤、来源标注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33400" y="2247900"/>
            <a:ext cx="11125200" cy="781050"/>
          </a:xfrm>
          <a:prstGeom prst="rect">
            <a:avLst/>
          </a:pr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47712" y="24407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软件工程协作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8962" y="244078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文件摘要、简单修复、测试说明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3212" y="2440781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版本控制、CI、代码审查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5962" y="2440781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测试验证、人工 review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3028950"/>
            <a:ext cx="11125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47712" y="3221831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客服与工单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28962" y="322183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意图识别、回复草稿、异常识别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3212" y="3221831"/>
            <a:ext cx="1622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客服知识库、业务 API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05962" y="32218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分级授权、人工确认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" y="3810000"/>
            <a:ext cx="11125200" cy="781050"/>
          </a:xfrm>
          <a:prstGeom prst="rect">
            <a:avLst/>
          </a:pr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47712" y="40028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边缘设备助手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28962" y="400288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低延迟问答、记录整理、隐私过滤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3212" y="40028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本地缓存、设备文档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05962" y="40028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设备权限、同步校验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4591050"/>
            <a:ext cx="11125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7712" y="47839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垂直行业辅助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28962" y="478393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术语解析、信息抽取、报告初稿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3212" y="478393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行业知识库、专业系统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5962" y="478393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专家复核、禁用自动决策</a:t>
            </a:r>
          </a:p>
        </p:txBody>
      </p:sp>
      <p:sp>
        <p:nvSpPr>
          <p:cNvPr id="34" name="Freeform 34"/>
          <p:cNvSpPr/>
          <p:nvPr/>
        </p:nvSpPr>
        <p:spPr>
          <a:xfrm>
            <a:off x="533400" y="5657850"/>
            <a:ext cx="11125200" cy="438150"/>
          </a:xfrm>
          <a:custGeom>
            <a:avLst/>
            <a:gdLst/>
            <a:ahLst/>
            <a:cxnLst/>
            <a:rect l="l" t="t" r="r" b="b"/>
            <a:pathLst>
              <a:path w="11125200" h="4381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23850"/>
                </a:lnTo>
                <a:cubicBezTo>
                  <a:pt x="11125200" y="386976"/>
                  <a:pt x="11074026" y="438150"/>
                  <a:pt x="11010900" y="438150"/>
                </a:cubicBezTo>
                <a:lnTo>
                  <a:pt x="114300" y="438150"/>
                </a:lnTo>
                <a:cubicBezTo>
                  <a:pt x="51174" y="438150"/>
                  <a:pt x="0" y="386976"/>
                  <a:pt x="0" y="323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2950" y="5772150"/>
            <a:ext cx="87791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适配原则：任务越高频、边界越清晰、越需要私有化和审计，中小模型越有系统价值。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 / 10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71036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多智能体不天然更可靠：错误可能被放大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914400"/>
            <a:ext cx="11125200" cy="666750"/>
          </a:xfrm>
          <a:custGeom>
            <a:avLst/>
            <a:gdLst/>
            <a:ahLst/>
            <a:cxnLst/>
            <a:rect l="l" t="t" r="r" b="b"/>
            <a:pathLst>
              <a:path w="11125200" h="666750">
                <a:moveTo>
                  <a:pt x="152400" y="0"/>
                </a:moveTo>
                <a:lnTo>
                  <a:pt x="10972800" y="0"/>
                </a:lnTo>
                <a:cubicBezTo>
                  <a:pt x="11056968" y="0"/>
                  <a:pt x="11125200" y="68232"/>
                  <a:pt x="11125200" y="152400"/>
                </a:cubicBezTo>
                <a:lnTo>
                  <a:pt x="11125200" y="514350"/>
                </a:lnTo>
                <a:cubicBezTo>
                  <a:pt x="11125200" y="598518"/>
                  <a:pt x="11056968" y="666750"/>
                  <a:pt x="10972800" y="666750"/>
                </a:cubicBezTo>
                <a:lnTo>
                  <a:pt x="152400" y="666750"/>
                </a:lnTo>
                <a:cubicBezTo>
                  <a:pt x="68232" y="666750"/>
                  <a:pt x="0" y="598518"/>
                  <a:pt x="0" y="514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D97706">
              <a:alpha val="12000"/>
            </a:srgbClr>
          </a:solidFill>
          <a:ln w="9525">
            <a:solidFill>
              <a:srgbClr val="D97706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816769" y="1092994"/>
            <a:ext cx="309562" cy="309562"/>
            <a:chOff x="816769" y="1092994"/>
            <a:chExt cx="309562" cy="309562"/>
          </a:xfrm>
        </p:grpSpPr>
        <p:sp>
          <p:nvSpPr>
            <p:cNvPr id="5" name="Freeform 5"/>
            <p:cNvSpPr/>
            <p:nvPr/>
          </p:nvSpPr>
          <p:spPr>
            <a:xfrm>
              <a:off x="828675" y="11049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cubicBezTo>
                    <a:pt x="285750" y="221783"/>
                    <a:pt x="221783" y="285750"/>
                    <a:pt x="142875" y="285750"/>
                  </a:cubicBezTo>
                  <a:cubicBezTo>
                    <a:pt x="63967" y="285750"/>
                    <a:pt x="0" y="221783"/>
                    <a:pt x="0" y="142875"/>
                  </a:cubicBezTo>
                  <a:cubicBezTo>
                    <a:pt x="0" y="63967"/>
                    <a:pt x="63967" y="0"/>
                    <a:pt x="142875" y="0"/>
                  </a:cubicBezTo>
                  <a:cubicBezTo>
                    <a:pt x="221783" y="0"/>
                    <a:pt x="285750" y="63967"/>
                    <a:pt x="285750" y="142875"/>
                  </a:cubicBezTo>
                  <a:close/>
                </a:path>
              </a:pathLst>
            </a:custGeom>
            <a:solidFill>
              <a:srgbClr val="D97706">
                <a:alpha val="20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16769" y="1092994"/>
              <a:ext cx="309562" cy="309562"/>
            </a:xfrm>
            <a:custGeom>
              <a:avLst/>
              <a:gdLst/>
              <a:ahLst/>
              <a:cxnLst/>
              <a:rect l="l" t="t" r="r" b="b"/>
              <a:pathLst>
                <a:path w="309562" h="309562">
                  <a:moveTo>
                    <a:pt x="154781" y="0"/>
                  </a:moveTo>
                  <a:cubicBezTo>
                    <a:pt x="69298" y="0"/>
                    <a:pt x="0" y="69298"/>
                    <a:pt x="0" y="154781"/>
                  </a:cubicBezTo>
                  <a:cubicBezTo>
                    <a:pt x="0" y="240265"/>
                    <a:pt x="69298" y="309562"/>
                    <a:pt x="154781" y="309562"/>
                  </a:cubicBezTo>
                  <a:cubicBezTo>
                    <a:pt x="240265" y="309562"/>
                    <a:pt x="309562" y="240265"/>
                    <a:pt x="309562" y="154781"/>
                  </a:cubicBezTo>
                  <a:cubicBezTo>
                    <a:pt x="309472" y="69335"/>
                    <a:pt x="240227" y="90"/>
                    <a:pt x="154781" y="0"/>
                  </a:cubicBezTo>
                  <a:close/>
                  <a:moveTo>
                    <a:pt x="154781" y="285750"/>
                  </a:moveTo>
                  <a:cubicBezTo>
                    <a:pt x="82449" y="285750"/>
                    <a:pt x="23812" y="227113"/>
                    <a:pt x="23812" y="154781"/>
                  </a:cubicBezTo>
                  <a:cubicBezTo>
                    <a:pt x="23812" y="82449"/>
                    <a:pt x="82449" y="23812"/>
                    <a:pt x="154781" y="23812"/>
                  </a:cubicBezTo>
                  <a:cubicBezTo>
                    <a:pt x="227113" y="23812"/>
                    <a:pt x="285750" y="82449"/>
                    <a:pt x="285750" y="154781"/>
                  </a:cubicBezTo>
                  <a:cubicBezTo>
                    <a:pt x="285668" y="227079"/>
                    <a:pt x="227079" y="285668"/>
                    <a:pt x="154781" y="285750"/>
                  </a:cubicBezTo>
                  <a:close/>
                  <a:moveTo>
                    <a:pt x="142875" y="166688"/>
                  </a:moveTo>
                  <a:lnTo>
                    <a:pt x="142875" y="83344"/>
                  </a:lnTo>
                  <a:cubicBezTo>
                    <a:pt x="142875" y="76768"/>
                    <a:pt x="148206" y="71438"/>
                    <a:pt x="154781" y="71438"/>
                  </a:cubicBezTo>
                  <a:cubicBezTo>
                    <a:pt x="161357" y="71438"/>
                    <a:pt x="166688" y="76768"/>
                    <a:pt x="166688" y="83344"/>
                  </a:cubicBezTo>
                  <a:lnTo>
                    <a:pt x="166688" y="166688"/>
                  </a:lnTo>
                  <a:cubicBezTo>
                    <a:pt x="166688" y="173263"/>
                    <a:pt x="161357" y="178594"/>
                    <a:pt x="154781" y="178594"/>
                  </a:cubicBezTo>
                  <a:cubicBezTo>
                    <a:pt x="148206" y="178594"/>
                    <a:pt x="142875" y="173263"/>
                    <a:pt x="142875" y="166688"/>
                  </a:cubicBezTo>
                  <a:close/>
                  <a:moveTo>
                    <a:pt x="172641" y="220266"/>
                  </a:moveTo>
                  <a:cubicBezTo>
                    <a:pt x="172641" y="230129"/>
                    <a:pt x="164645" y="238125"/>
                    <a:pt x="154781" y="238125"/>
                  </a:cubicBezTo>
                  <a:cubicBezTo>
                    <a:pt x="144918" y="238125"/>
                    <a:pt x="136922" y="230129"/>
                    <a:pt x="136922" y="220266"/>
                  </a:cubicBezTo>
                  <a:cubicBezTo>
                    <a:pt x="136922" y="210402"/>
                    <a:pt x="144918" y="202406"/>
                    <a:pt x="154781" y="202406"/>
                  </a:cubicBezTo>
                  <a:cubicBezTo>
                    <a:pt x="164645" y="202406"/>
                    <a:pt x="172641" y="210402"/>
                    <a:pt x="172641" y="220266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14450" y="1162050"/>
            <a:ext cx="71689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多智能体系统会把单模型风险扩展为流程风险、权限风险和协作风险。</a:t>
            </a:r>
          </a:p>
        </p:txBody>
      </p:sp>
      <p:sp>
        <p:nvSpPr>
          <p:cNvPr id="9" name="Freeform 9"/>
          <p:cNvSpPr/>
          <p:nvPr/>
        </p:nvSpPr>
        <p:spPr>
          <a:xfrm>
            <a:off x="666750" y="2000250"/>
            <a:ext cx="5143500" cy="3143250"/>
          </a:xfrm>
          <a:custGeom>
            <a:avLst/>
            <a:gdLst/>
            <a:ahLst/>
            <a:cxnLst/>
            <a:rect l="l" t="t" r="r" b="b"/>
            <a:pathLst>
              <a:path w="5143500" h="31432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971800"/>
                </a:lnTo>
                <a:cubicBezTo>
                  <a:pt x="5143500" y="3066489"/>
                  <a:pt x="5066739" y="3143250"/>
                  <a:pt x="4972050" y="3143250"/>
                </a:cubicBezTo>
                <a:lnTo>
                  <a:pt x="171450" y="3143250"/>
                </a:lnTo>
                <a:cubicBezTo>
                  <a:pt x="76761" y="3143250"/>
                  <a:pt x="0" y="3066489"/>
                  <a:pt x="0" y="2971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7738" y="2197894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主要挑战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" y="2752725"/>
            <a:ext cx="4671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1. 能力上限：复杂推理、长上下文、高风险决策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" y="3152775"/>
            <a:ext cx="47263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2. 协作可靠性：级联幻觉、群体思维、责任模糊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" y="3552825"/>
            <a:ext cx="45072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3. 工具风险：错误参数、接口失败、越权调用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0" y="3952875"/>
            <a:ext cx="41676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4. 评价不足：不能只看单模型 benchmark</a:t>
            </a:r>
          </a:p>
        </p:txBody>
      </p:sp>
      <p:sp>
        <p:nvSpPr>
          <p:cNvPr id="15" name="Freeform 15"/>
          <p:cNvSpPr/>
          <p:nvPr/>
        </p:nvSpPr>
        <p:spPr>
          <a:xfrm>
            <a:off x="6381750" y="2000250"/>
            <a:ext cx="5143500" cy="3143250"/>
          </a:xfrm>
          <a:custGeom>
            <a:avLst/>
            <a:gdLst/>
            <a:ahLst/>
            <a:cxnLst/>
            <a:rect l="l" t="t" r="r" b="b"/>
            <a:pathLst>
              <a:path w="5143500" h="31432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971800"/>
                </a:lnTo>
                <a:cubicBezTo>
                  <a:pt x="5143500" y="3066489"/>
                  <a:pt x="5066739" y="3143250"/>
                  <a:pt x="4972050" y="3143250"/>
                </a:cubicBezTo>
                <a:lnTo>
                  <a:pt x="171450" y="3143250"/>
                </a:lnTo>
                <a:cubicBezTo>
                  <a:pt x="76761" y="3143250"/>
                  <a:pt x="0" y="3066489"/>
                  <a:pt x="0" y="2971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662738" y="2197894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治理抓手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500" y="2752725"/>
            <a:ext cx="26998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1. 任务难度分级与模型升级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7500" y="3152775"/>
            <a:ext cx="27546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2. 中间产物校验与日志回放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0" y="3552825"/>
            <a:ext cx="36309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3. 权限最小化、沙箱执行、人工确认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7500" y="3952875"/>
            <a:ext cx="36309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4. 端到端成功率、成本和安全性评估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732294" y="4366617"/>
            <a:ext cx="385762" cy="402384"/>
            <a:chOff x="10732294" y="4366617"/>
            <a:chExt cx="385762" cy="402384"/>
          </a:xfrm>
        </p:grpSpPr>
        <p:sp>
          <p:nvSpPr>
            <p:cNvPr id="21" name="Freeform 21"/>
            <p:cNvSpPr/>
            <p:nvPr/>
          </p:nvSpPr>
          <p:spPr>
            <a:xfrm>
              <a:off x="10748367" y="4382691"/>
              <a:ext cx="353616" cy="369930"/>
            </a:xfrm>
            <a:custGeom>
              <a:avLst/>
              <a:gdLst/>
              <a:ahLst/>
              <a:cxnLst/>
              <a:rect l="l" t="t" r="r" b="b"/>
              <a:pathLst>
                <a:path w="353616" h="369930">
                  <a:moveTo>
                    <a:pt x="353616" y="16073"/>
                  </a:moveTo>
                  <a:lnTo>
                    <a:pt x="353616" y="134153"/>
                  </a:lnTo>
                  <a:cubicBezTo>
                    <a:pt x="353616" y="303286"/>
                    <a:pt x="210341" y="359322"/>
                    <a:pt x="181750" y="368825"/>
                  </a:cubicBezTo>
                  <a:cubicBezTo>
                    <a:pt x="178548" y="369930"/>
                    <a:pt x="175068" y="369930"/>
                    <a:pt x="171865" y="368825"/>
                  </a:cubicBezTo>
                  <a:cubicBezTo>
                    <a:pt x="143275" y="359362"/>
                    <a:pt x="0" y="303386"/>
                    <a:pt x="0" y="134193"/>
                  </a:cubicBezTo>
                  <a:lnTo>
                    <a:pt x="0" y="16073"/>
                  </a:lnTo>
                  <a:cubicBezTo>
                    <a:pt x="0" y="7196"/>
                    <a:pt x="7196" y="0"/>
                    <a:pt x="16073" y="0"/>
                  </a:cubicBezTo>
                  <a:lnTo>
                    <a:pt x="337542" y="0"/>
                  </a:lnTo>
                  <a:cubicBezTo>
                    <a:pt x="346419" y="0"/>
                    <a:pt x="353616" y="7196"/>
                    <a:pt x="353616" y="16073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732294" y="4366617"/>
              <a:ext cx="385762" cy="402384"/>
            </a:xfrm>
            <a:custGeom>
              <a:avLst/>
              <a:gdLst/>
              <a:ahLst/>
              <a:cxnLst/>
              <a:rect l="l" t="t" r="r" b="b"/>
              <a:pathLst>
                <a:path w="385762" h="402384">
                  <a:moveTo>
                    <a:pt x="353616" y="0"/>
                  </a:moveTo>
                  <a:lnTo>
                    <a:pt x="32147" y="0"/>
                  </a:lnTo>
                  <a:cubicBezTo>
                    <a:pt x="14393" y="0"/>
                    <a:pt x="0" y="14393"/>
                    <a:pt x="0" y="32147"/>
                  </a:cubicBezTo>
                  <a:lnTo>
                    <a:pt x="0" y="150246"/>
                  </a:lnTo>
                  <a:cubicBezTo>
                    <a:pt x="0" y="330289"/>
                    <a:pt x="152336" y="390022"/>
                    <a:pt x="182835" y="400168"/>
                  </a:cubicBezTo>
                  <a:cubicBezTo>
                    <a:pt x="189349" y="402384"/>
                    <a:pt x="196413" y="402384"/>
                    <a:pt x="202927" y="400168"/>
                  </a:cubicBezTo>
                  <a:cubicBezTo>
                    <a:pt x="233467" y="390022"/>
                    <a:pt x="385762" y="330289"/>
                    <a:pt x="385762" y="150246"/>
                  </a:cubicBezTo>
                  <a:lnTo>
                    <a:pt x="385762" y="32147"/>
                  </a:lnTo>
                  <a:cubicBezTo>
                    <a:pt x="385762" y="14393"/>
                    <a:pt x="371370" y="0"/>
                    <a:pt x="353616" y="0"/>
                  </a:cubicBezTo>
                  <a:close/>
                  <a:moveTo>
                    <a:pt x="353616" y="150267"/>
                  </a:moveTo>
                  <a:cubicBezTo>
                    <a:pt x="353616" y="307826"/>
                    <a:pt x="220307" y="360467"/>
                    <a:pt x="192881" y="369629"/>
                  </a:cubicBezTo>
                  <a:cubicBezTo>
                    <a:pt x="165697" y="360567"/>
                    <a:pt x="32147" y="307967"/>
                    <a:pt x="32147" y="150267"/>
                  </a:cubicBezTo>
                  <a:lnTo>
                    <a:pt x="32147" y="32147"/>
                  </a:lnTo>
                  <a:lnTo>
                    <a:pt x="353616" y="32147"/>
                  </a:lnTo>
                  <a:close/>
                  <a:moveTo>
                    <a:pt x="101142" y="204253"/>
                  </a:moveTo>
                  <a:cubicBezTo>
                    <a:pt x="94862" y="197973"/>
                    <a:pt x="94862" y="187790"/>
                    <a:pt x="101142" y="181509"/>
                  </a:cubicBezTo>
                  <a:cubicBezTo>
                    <a:pt x="107423" y="175229"/>
                    <a:pt x="117605" y="175229"/>
                    <a:pt x="123886" y="181509"/>
                  </a:cubicBezTo>
                  <a:lnTo>
                    <a:pt x="160734" y="218358"/>
                  </a:lnTo>
                  <a:lnTo>
                    <a:pt x="261876" y="117216"/>
                  </a:lnTo>
                  <a:cubicBezTo>
                    <a:pt x="268157" y="110935"/>
                    <a:pt x="278340" y="110935"/>
                    <a:pt x="284620" y="117216"/>
                  </a:cubicBezTo>
                  <a:cubicBezTo>
                    <a:pt x="290901" y="123496"/>
                    <a:pt x="290901" y="133679"/>
                    <a:pt x="284620" y="139959"/>
                  </a:cubicBezTo>
                  <a:lnTo>
                    <a:pt x="172106" y="252474"/>
                  </a:lnTo>
                  <a:cubicBezTo>
                    <a:pt x="169091" y="255492"/>
                    <a:pt x="165000" y="257188"/>
                    <a:pt x="160734" y="257188"/>
                  </a:cubicBezTo>
                  <a:cubicBezTo>
                    <a:pt x="156468" y="257188"/>
                    <a:pt x="152377" y="255492"/>
                    <a:pt x="149362" y="25247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936432" y="5648325"/>
            <a:ext cx="83191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结论：中小模型能降低执行成本，但可靠性来自系统级治理，而非模型大小本身。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 / 10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2544175" y="391478"/>
            <a:ext cx="71036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未来方向：从模型大小竞争转向系统协同</a:t>
            </a:r>
          </a:p>
        </p:txBody>
      </p:sp>
      <p:sp>
        <p:nvSpPr>
          <p:cNvPr id="4" name="Line 4"/>
          <p:cNvSpPr/>
          <p:nvPr/>
        </p:nvSpPr>
        <p:spPr>
          <a:xfrm>
            <a:off x="2381250" y="1485900"/>
            <a:ext cx="9525" cy="4057650"/>
          </a:xfrm>
          <a:custGeom>
            <a:avLst/>
            <a:gdLst/>
            <a:ahLst/>
            <a:cxnLst/>
            <a:rect l="l" t="t" r="r" b="b"/>
            <a:pathLst>
              <a:path w="9525" h="4057650">
                <a:moveTo>
                  <a:pt x="0" y="0"/>
                </a:moveTo>
                <a:lnTo>
                  <a:pt x="0" y="4057650"/>
                </a:lnTo>
              </a:path>
            </a:pathLst>
          </a:custGeom>
          <a:noFill/>
          <a:ln w="38100">
            <a:solidFill>
              <a:srgbClr val="1565C0"/>
            </a:solidFill>
          </a:ln>
        </p:spPr>
      </p:sp>
      <p:sp>
        <p:nvSpPr>
          <p:cNvPr id="5" name="Ellipse 5"/>
          <p:cNvSpPr/>
          <p:nvPr/>
        </p:nvSpPr>
        <p:spPr>
          <a:xfrm>
            <a:off x="2209800" y="142875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833688" y="1473994"/>
            <a:ext cx="23479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大小模型协同路由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38450" y="1838325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小模型默认执行，大模型处理规划、仲裁与困难样本。</a:t>
            </a:r>
          </a:p>
        </p:txBody>
      </p:sp>
      <p:sp>
        <p:nvSpPr>
          <p:cNvPr id="8" name="Ellipse 8"/>
          <p:cNvSpPr/>
          <p:nvPr/>
        </p:nvSpPr>
        <p:spPr>
          <a:xfrm>
            <a:off x="2209800" y="2400300"/>
            <a:ext cx="342900" cy="342900"/>
          </a:xfrm>
          <a:prstGeom prst="ellipse">
            <a:avLst/>
          </a:prstGeom>
          <a:solidFill>
            <a:srgbClr val="22C1C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833688" y="2445544"/>
            <a:ext cx="23479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角色专用中小模型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38450" y="2809875"/>
            <a:ext cx="5734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面向检索、代码、审查、客服、安全等角色训练轻量专家。</a:t>
            </a:r>
          </a:p>
        </p:txBody>
      </p:sp>
      <p:sp>
        <p:nvSpPr>
          <p:cNvPr id="11" name="Ellipse 11"/>
          <p:cNvSpPr/>
          <p:nvPr/>
        </p:nvSpPr>
        <p:spPr>
          <a:xfrm>
            <a:off x="2209800" y="337185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833688" y="3417094"/>
            <a:ext cx="295173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端—边—云多智能体架构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38450" y="3781425"/>
            <a:ext cx="5076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边缘侧处理实时与隐私，云端强模型负责复杂推理。</a:t>
            </a:r>
          </a:p>
        </p:txBody>
      </p:sp>
      <p:sp>
        <p:nvSpPr>
          <p:cNvPr id="14" name="Ellipse 14"/>
          <p:cNvSpPr/>
          <p:nvPr/>
        </p:nvSpPr>
        <p:spPr>
          <a:xfrm>
            <a:off x="2209800" y="4343400"/>
            <a:ext cx="342900" cy="342900"/>
          </a:xfrm>
          <a:prstGeom prst="ellipse">
            <a:avLst/>
          </a:prstGeom>
          <a:solidFill>
            <a:srgbClr val="22C1C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833688" y="4388644"/>
            <a:ext cx="23479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多智能体轨迹蒸馏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8450" y="4752975"/>
            <a:ext cx="5076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把高成本团队协作轨迹压缩为低成本小模型工作流。</a:t>
            </a:r>
          </a:p>
        </p:txBody>
      </p:sp>
      <p:sp>
        <p:nvSpPr>
          <p:cNvPr id="17" name="Ellipse 17"/>
          <p:cNvSpPr/>
          <p:nvPr/>
        </p:nvSpPr>
        <p:spPr>
          <a:xfrm>
            <a:off x="2209800" y="531495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833688" y="5360194"/>
            <a:ext cx="206037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安全治理内生化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38450" y="5724525"/>
            <a:ext cx="5076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权限、沙箱、审计、红队测试与人机协同同步设计。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698613" y="2641168"/>
            <a:ext cx="690454" cy="686638"/>
            <a:chOff x="9698613" y="2641168"/>
            <a:chExt cx="690454" cy="686638"/>
          </a:xfrm>
        </p:grpSpPr>
        <p:sp>
          <p:nvSpPr>
            <p:cNvPr id="20" name="Freeform 20"/>
            <p:cNvSpPr/>
            <p:nvPr/>
          </p:nvSpPr>
          <p:spPr>
            <a:xfrm>
              <a:off x="9727959" y="2780109"/>
              <a:ext cx="522132" cy="522132"/>
            </a:xfrm>
            <a:custGeom>
              <a:avLst/>
              <a:gdLst/>
              <a:ahLst/>
              <a:cxnLst/>
              <a:rect l="l" t="t" r="r" b="b"/>
              <a:pathLst>
                <a:path w="522132" h="522132">
                  <a:moveTo>
                    <a:pt x="138750" y="301228"/>
                  </a:moveTo>
                  <a:lnTo>
                    <a:pt x="220904" y="383381"/>
                  </a:lnTo>
                  <a:cubicBezTo>
                    <a:pt x="220904" y="383381"/>
                    <a:pt x="193519" y="492919"/>
                    <a:pt x="29213" y="492919"/>
                  </a:cubicBezTo>
                  <a:cubicBezTo>
                    <a:pt x="29213" y="328612"/>
                    <a:pt x="138750" y="301228"/>
                    <a:pt x="138750" y="301228"/>
                  </a:cubicBezTo>
                  <a:close/>
                  <a:moveTo>
                    <a:pt x="357825" y="0"/>
                  </a:moveTo>
                  <a:lnTo>
                    <a:pt x="146795" y="0"/>
                  </a:lnTo>
                  <a:cubicBezTo>
                    <a:pt x="139541" y="3"/>
                    <a:pt x="132586" y="2884"/>
                    <a:pt x="127454" y="8010"/>
                  </a:cubicBezTo>
                  <a:lnTo>
                    <a:pt x="9873" y="125592"/>
                  </a:lnTo>
                  <a:cubicBezTo>
                    <a:pt x="2551" y="132929"/>
                    <a:pt x="0" y="143773"/>
                    <a:pt x="3282" y="153605"/>
                  </a:cubicBezTo>
                  <a:cubicBezTo>
                    <a:pt x="6565" y="163438"/>
                    <a:pt x="15118" y="170574"/>
                    <a:pt x="25379" y="172042"/>
                  </a:cubicBezTo>
                  <a:lnTo>
                    <a:pt x="166135" y="191691"/>
                  </a:lnTo>
                  <a:close/>
                  <a:moveTo>
                    <a:pt x="330441" y="355997"/>
                  </a:moveTo>
                  <a:lnTo>
                    <a:pt x="350089" y="496753"/>
                  </a:lnTo>
                  <a:cubicBezTo>
                    <a:pt x="351557" y="507014"/>
                    <a:pt x="358694" y="515567"/>
                    <a:pt x="368526" y="518849"/>
                  </a:cubicBezTo>
                  <a:cubicBezTo>
                    <a:pt x="378359" y="522132"/>
                    <a:pt x="389202" y="519581"/>
                    <a:pt x="396540" y="512259"/>
                  </a:cubicBezTo>
                  <a:lnTo>
                    <a:pt x="514122" y="394677"/>
                  </a:lnTo>
                  <a:cubicBezTo>
                    <a:pt x="519248" y="389546"/>
                    <a:pt x="522128" y="382590"/>
                    <a:pt x="522132" y="375337"/>
                  </a:cubicBezTo>
                  <a:lnTo>
                    <a:pt x="522132" y="164306"/>
                  </a:ln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698613" y="2641168"/>
              <a:ext cx="690454" cy="686638"/>
            </a:xfrm>
            <a:custGeom>
              <a:avLst/>
              <a:gdLst/>
              <a:ahLst/>
              <a:cxnLst/>
              <a:rect l="l" t="t" r="r" b="b"/>
              <a:pathLst>
                <a:path w="690454" h="686638">
                  <a:moveTo>
                    <a:pt x="276847" y="528963"/>
                  </a:moveTo>
                  <a:cubicBezTo>
                    <a:pt x="275512" y="534269"/>
                    <a:pt x="242137" y="659245"/>
                    <a:pt x="58559" y="659245"/>
                  </a:cubicBezTo>
                  <a:cubicBezTo>
                    <a:pt x="43435" y="659245"/>
                    <a:pt x="31175" y="646984"/>
                    <a:pt x="31175" y="631860"/>
                  </a:cubicBezTo>
                  <a:cubicBezTo>
                    <a:pt x="31175" y="448282"/>
                    <a:pt x="156150" y="414908"/>
                    <a:pt x="161456" y="413573"/>
                  </a:cubicBezTo>
                  <a:cubicBezTo>
                    <a:pt x="176136" y="409905"/>
                    <a:pt x="191009" y="418832"/>
                    <a:pt x="194677" y="433512"/>
                  </a:cubicBezTo>
                  <a:cubicBezTo>
                    <a:pt x="198344" y="448191"/>
                    <a:pt x="189417" y="463065"/>
                    <a:pt x="174738" y="466732"/>
                  </a:cubicBezTo>
                  <a:cubicBezTo>
                    <a:pt x="171657" y="467588"/>
                    <a:pt x="97993" y="489119"/>
                    <a:pt x="87244" y="603175"/>
                  </a:cubicBezTo>
                  <a:cubicBezTo>
                    <a:pt x="201300" y="592427"/>
                    <a:pt x="222866" y="518900"/>
                    <a:pt x="223756" y="515477"/>
                  </a:cubicBezTo>
                  <a:cubicBezTo>
                    <a:pt x="227537" y="500816"/>
                    <a:pt x="242487" y="491996"/>
                    <a:pt x="257147" y="495777"/>
                  </a:cubicBezTo>
                  <a:cubicBezTo>
                    <a:pt x="271808" y="499558"/>
                    <a:pt x="280628" y="514508"/>
                    <a:pt x="276847" y="529169"/>
                  </a:cubicBezTo>
                  <a:close/>
                  <a:moveTo>
                    <a:pt x="595190" y="298250"/>
                  </a:moveTo>
                  <a:lnTo>
                    <a:pt x="578862" y="314578"/>
                  </a:lnTo>
                  <a:lnTo>
                    <a:pt x="578862" y="514244"/>
                  </a:lnTo>
                  <a:cubicBezTo>
                    <a:pt x="578945" y="528828"/>
                    <a:pt x="573174" y="542836"/>
                    <a:pt x="562843" y="553130"/>
                  </a:cubicBezTo>
                  <a:lnTo>
                    <a:pt x="445364" y="670541"/>
                  </a:lnTo>
                  <a:cubicBezTo>
                    <a:pt x="435131" y="680846"/>
                    <a:pt x="421206" y="686638"/>
                    <a:pt x="406683" y="686629"/>
                  </a:cubicBezTo>
                  <a:cubicBezTo>
                    <a:pt x="400749" y="686627"/>
                    <a:pt x="394854" y="685668"/>
                    <a:pt x="389226" y="683788"/>
                  </a:cubicBezTo>
                  <a:cubicBezTo>
                    <a:pt x="369513" y="677268"/>
                    <a:pt x="355209" y="660124"/>
                    <a:pt x="352325" y="639562"/>
                  </a:cubicBezTo>
                  <a:lnTo>
                    <a:pt x="333943" y="507809"/>
                  </a:lnTo>
                  <a:lnTo>
                    <a:pt x="182611" y="356476"/>
                  </a:lnTo>
                  <a:lnTo>
                    <a:pt x="50926" y="338094"/>
                  </a:lnTo>
                  <a:cubicBezTo>
                    <a:pt x="30339" y="335207"/>
                    <a:pt x="13161" y="320913"/>
                    <a:pt x="6580" y="301193"/>
                  </a:cubicBezTo>
                  <a:cubicBezTo>
                    <a:pt x="0" y="281473"/>
                    <a:pt x="5151" y="259728"/>
                    <a:pt x="19879" y="245056"/>
                  </a:cubicBezTo>
                  <a:lnTo>
                    <a:pt x="137289" y="127577"/>
                  </a:lnTo>
                  <a:cubicBezTo>
                    <a:pt x="147583" y="117246"/>
                    <a:pt x="161591" y="111475"/>
                    <a:pt x="176175" y="111557"/>
                  </a:cubicBezTo>
                  <a:lnTo>
                    <a:pt x="375842" y="111557"/>
                  </a:lnTo>
                  <a:lnTo>
                    <a:pt x="392169" y="95229"/>
                  </a:lnTo>
                  <a:cubicBezTo>
                    <a:pt x="483496" y="3937"/>
                    <a:pt x="593547" y="0"/>
                    <a:pt x="636609" y="2567"/>
                  </a:cubicBezTo>
                  <a:cubicBezTo>
                    <a:pt x="664241" y="4246"/>
                    <a:pt x="686276" y="26281"/>
                    <a:pt x="687955" y="53913"/>
                  </a:cubicBezTo>
                  <a:cubicBezTo>
                    <a:pt x="690454" y="96872"/>
                    <a:pt x="686517" y="206923"/>
                    <a:pt x="595225" y="298250"/>
                  </a:cubicBezTo>
                  <a:close/>
                  <a:moveTo>
                    <a:pt x="58559" y="283873"/>
                  </a:moveTo>
                  <a:lnTo>
                    <a:pt x="185726" y="301605"/>
                  </a:lnTo>
                  <a:lnTo>
                    <a:pt x="321073" y="166326"/>
                  </a:lnTo>
                  <a:lnTo>
                    <a:pt x="176175" y="166326"/>
                  </a:lnTo>
                  <a:close/>
                  <a:moveTo>
                    <a:pt x="234230" y="330632"/>
                  </a:moveTo>
                  <a:lnTo>
                    <a:pt x="359787" y="456189"/>
                  </a:lnTo>
                  <a:lnTo>
                    <a:pt x="556442" y="259535"/>
                  </a:lnTo>
                  <a:cubicBezTo>
                    <a:pt x="610060" y="206279"/>
                    <a:pt x="638041" y="132445"/>
                    <a:pt x="633186" y="57028"/>
                  </a:cubicBezTo>
                  <a:cubicBezTo>
                    <a:pt x="557814" y="52350"/>
                    <a:pt x="484081" y="80378"/>
                    <a:pt x="430850" y="133944"/>
                  </a:cubicBezTo>
                  <a:close/>
                  <a:moveTo>
                    <a:pt x="524094" y="369347"/>
                  </a:moveTo>
                  <a:lnTo>
                    <a:pt x="388781" y="504660"/>
                  </a:lnTo>
                  <a:lnTo>
                    <a:pt x="406581" y="631860"/>
                  </a:lnTo>
                  <a:lnTo>
                    <a:pt x="524094" y="514244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3" name="Freeform 23"/>
          <p:cNvSpPr/>
          <p:nvPr/>
        </p:nvSpPr>
        <p:spPr>
          <a:xfrm>
            <a:off x="8858250" y="3714750"/>
            <a:ext cx="2266950" cy="762000"/>
          </a:xfrm>
          <a:custGeom>
            <a:avLst/>
            <a:gdLst/>
            <a:ahLst/>
            <a:cxnLst/>
            <a:rect l="l" t="t" r="r" b="b"/>
            <a:pathLst>
              <a:path w="2266950" h="762000">
                <a:moveTo>
                  <a:pt x="171450" y="0"/>
                </a:moveTo>
                <a:lnTo>
                  <a:pt x="2095500" y="0"/>
                </a:lnTo>
                <a:cubicBezTo>
                  <a:pt x="2190189" y="0"/>
                  <a:pt x="2266950" y="76761"/>
                  <a:pt x="2266950" y="171450"/>
                </a:cubicBezTo>
                <a:lnTo>
                  <a:pt x="2266950" y="590550"/>
                </a:lnTo>
                <a:cubicBezTo>
                  <a:pt x="2266950" y="685239"/>
                  <a:pt x="2190189" y="762000"/>
                  <a:pt x="2095500" y="762000"/>
                </a:cubicBezTo>
                <a:lnTo>
                  <a:pt x="171450" y="762000"/>
                </a:lnTo>
                <a:cubicBezTo>
                  <a:pt x="76761" y="762000"/>
                  <a:pt x="0" y="685239"/>
                  <a:pt x="0" y="590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512618" y="3886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核心趋势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15450" y="41814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系统级专家化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 / 10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8">
              <a:alpha val="45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83141" y="798344"/>
            <a:ext cx="600395" cy="597077"/>
            <a:chOff x="5783141" y="798344"/>
            <a:chExt cx="600395" cy="597077"/>
          </a:xfrm>
        </p:grpSpPr>
        <p:sp>
          <p:nvSpPr>
            <p:cNvPr id="5" name="Freeform 5"/>
            <p:cNvSpPr/>
            <p:nvPr/>
          </p:nvSpPr>
          <p:spPr>
            <a:xfrm>
              <a:off x="5808660" y="919162"/>
              <a:ext cx="454028" cy="454028"/>
            </a:xfrm>
            <a:custGeom>
              <a:avLst/>
              <a:gdLst/>
              <a:ahLst/>
              <a:cxnLst/>
              <a:rect l="l" t="t" r="r" b="b"/>
              <a:pathLst>
                <a:path w="454028" h="454028">
                  <a:moveTo>
                    <a:pt x="120653" y="261938"/>
                  </a:moveTo>
                  <a:lnTo>
                    <a:pt x="192090" y="333375"/>
                  </a:lnTo>
                  <a:cubicBezTo>
                    <a:pt x="192090" y="333375"/>
                    <a:pt x="168278" y="428625"/>
                    <a:pt x="25403" y="428625"/>
                  </a:cubicBezTo>
                  <a:cubicBezTo>
                    <a:pt x="25403" y="285750"/>
                    <a:pt x="120653" y="261938"/>
                    <a:pt x="120653" y="261938"/>
                  </a:cubicBezTo>
                  <a:close/>
                  <a:moveTo>
                    <a:pt x="311153" y="0"/>
                  </a:moveTo>
                  <a:lnTo>
                    <a:pt x="127647" y="0"/>
                  </a:lnTo>
                  <a:cubicBezTo>
                    <a:pt x="121340" y="3"/>
                    <a:pt x="115292" y="2508"/>
                    <a:pt x="110830" y="6965"/>
                  </a:cubicBezTo>
                  <a:lnTo>
                    <a:pt x="8585" y="109210"/>
                  </a:lnTo>
                  <a:cubicBezTo>
                    <a:pt x="2218" y="115591"/>
                    <a:pt x="0" y="125020"/>
                    <a:pt x="2854" y="133570"/>
                  </a:cubicBezTo>
                  <a:cubicBezTo>
                    <a:pt x="5708" y="142120"/>
                    <a:pt x="13146" y="148325"/>
                    <a:pt x="22069" y="149602"/>
                  </a:cubicBezTo>
                  <a:lnTo>
                    <a:pt x="144465" y="166688"/>
                  </a:lnTo>
                  <a:close/>
                  <a:moveTo>
                    <a:pt x="287340" y="309562"/>
                  </a:moveTo>
                  <a:lnTo>
                    <a:pt x="304426" y="431959"/>
                  </a:lnTo>
                  <a:cubicBezTo>
                    <a:pt x="305702" y="440882"/>
                    <a:pt x="311908" y="448319"/>
                    <a:pt x="320458" y="451173"/>
                  </a:cubicBezTo>
                  <a:cubicBezTo>
                    <a:pt x="329008" y="454028"/>
                    <a:pt x="338437" y="451809"/>
                    <a:pt x="344817" y="445443"/>
                  </a:cubicBezTo>
                  <a:lnTo>
                    <a:pt x="447062" y="343198"/>
                  </a:lnTo>
                  <a:cubicBezTo>
                    <a:pt x="451520" y="338735"/>
                    <a:pt x="454025" y="332687"/>
                    <a:pt x="454028" y="326380"/>
                  </a:cubicBezTo>
                  <a:lnTo>
                    <a:pt x="454028" y="142875"/>
                  </a:ln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83141" y="798344"/>
              <a:ext cx="600395" cy="597077"/>
            </a:xfrm>
            <a:custGeom>
              <a:avLst/>
              <a:gdLst/>
              <a:ahLst/>
              <a:cxnLst/>
              <a:rect l="l" t="t" r="r" b="b"/>
              <a:pathLst>
                <a:path w="600395" h="597077">
                  <a:moveTo>
                    <a:pt x="240737" y="459968"/>
                  </a:moveTo>
                  <a:cubicBezTo>
                    <a:pt x="239576" y="464582"/>
                    <a:pt x="210554" y="573256"/>
                    <a:pt x="50921" y="573256"/>
                  </a:cubicBezTo>
                  <a:cubicBezTo>
                    <a:pt x="37770" y="573256"/>
                    <a:pt x="27109" y="562595"/>
                    <a:pt x="27109" y="549444"/>
                  </a:cubicBezTo>
                  <a:cubicBezTo>
                    <a:pt x="27109" y="389811"/>
                    <a:pt x="135783" y="360789"/>
                    <a:pt x="140397" y="359628"/>
                  </a:cubicBezTo>
                  <a:cubicBezTo>
                    <a:pt x="153162" y="356439"/>
                    <a:pt x="166095" y="364202"/>
                    <a:pt x="169284" y="376967"/>
                  </a:cubicBezTo>
                  <a:cubicBezTo>
                    <a:pt x="172473" y="389732"/>
                    <a:pt x="164711" y="402665"/>
                    <a:pt x="151946" y="405854"/>
                  </a:cubicBezTo>
                  <a:cubicBezTo>
                    <a:pt x="149267" y="406598"/>
                    <a:pt x="85211" y="425321"/>
                    <a:pt x="75865" y="524500"/>
                  </a:cubicBezTo>
                  <a:cubicBezTo>
                    <a:pt x="175044" y="515154"/>
                    <a:pt x="193796" y="451217"/>
                    <a:pt x="194570" y="448241"/>
                  </a:cubicBezTo>
                  <a:cubicBezTo>
                    <a:pt x="197858" y="435492"/>
                    <a:pt x="210858" y="427823"/>
                    <a:pt x="223606" y="431110"/>
                  </a:cubicBezTo>
                  <a:cubicBezTo>
                    <a:pt x="236355" y="434398"/>
                    <a:pt x="244024" y="447398"/>
                    <a:pt x="240737" y="460147"/>
                  </a:cubicBezTo>
                  <a:close/>
                  <a:moveTo>
                    <a:pt x="517557" y="259348"/>
                  </a:moveTo>
                  <a:lnTo>
                    <a:pt x="503359" y="273546"/>
                  </a:lnTo>
                  <a:lnTo>
                    <a:pt x="503359" y="447169"/>
                  </a:lnTo>
                  <a:cubicBezTo>
                    <a:pt x="503430" y="459851"/>
                    <a:pt x="498412" y="472031"/>
                    <a:pt x="489428" y="480983"/>
                  </a:cubicBezTo>
                  <a:lnTo>
                    <a:pt x="387273" y="583079"/>
                  </a:lnTo>
                  <a:cubicBezTo>
                    <a:pt x="378375" y="592040"/>
                    <a:pt x="366266" y="597077"/>
                    <a:pt x="353638" y="597069"/>
                  </a:cubicBezTo>
                  <a:cubicBezTo>
                    <a:pt x="348477" y="597067"/>
                    <a:pt x="343351" y="596233"/>
                    <a:pt x="338457" y="594598"/>
                  </a:cubicBezTo>
                  <a:cubicBezTo>
                    <a:pt x="321315" y="588928"/>
                    <a:pt x="308877" y="574021"/>
                    <a:pt x="306370" y="556141"/>
                  </a:cubicBezTo>
                  <a:lnTo>
                    <a:pt x="290386" y="441573"/>
                  </a:lnTo>
                  <a:lnTo>
                    <a:pt x="158792" y="309979"/>
                  </a:lnTo>
                  <a:lnTo>
                    <a:pt x="44283" y="293995"/>
                  </a:lnTo>
                  <a:cubicBezTo>
                    <a:pt x="26381" y="291484"/>
                    <a:pt x="11444" y="279055"/>
                    <a:pt x="5722" y="261907"/>
                  </a:cubicBezTo>
                  <a:cubicBezTo>
                    <a:pt x="0" y="244759"/>
                    <a:pt x="4479" y="225850"/>
                    <a:pt x="17286" y="213092"/>
                  </a:cubicBezTo>
                  <a:lnTo>
                    <a:pt x="119382" y="110936"/>
                  </a:lnTo>
                  <a:cubicBezTo>
                    <a:pt x="128333" y="101953"/>
                    <a:pt x="140514" y="96935"/>
                    <a:pt x="153196" y="97006"/>
                  </a:cubicBezTo>
                  <a:lnTo>
                    <a:pt x="326819" y="97006"/>
                  </a:lnTo>
                  <a:lnTo>
                    <a:pt x="341017" y="82808"/>
                  </a:lnTo>
                  <a:cubicBezTo>
                    <a:pt x="420432" y="3423"/>
                    <a:pt x="516128" y="0"/>
                    <a:pt x="553573" y="2232"/>
                  </a:cubicBezTo>
                  <a:cubicBezTo>
                    <a:pt x="577601" y="3693"/>
                    <a:pt x="596762" y="22853"/>
                    <a:pt x="598222" y="46881"/>
                  </a:cubicBezTo>
                  <a:cubicBezTo>
                    <a:pt x="600395" y="84237"/>
                    <a:pt x="596972" y="179933"/>
                    <a:pt x="517587" y="259348"/>
                  </a:cubicBezTo>
                  <a:close/>
                  <a:moveTo>
                    <a:pt x="50921" y="246846"/>
                  </a:moveTo>
                  <a:lnTo>
                    <a:pt x="161500" y="262265"/>
                  </a:lnTo>
                  <a:lnTo>
                    <a:pt x="279194" y="144631"/>
                  </a:lnTo>
                  <a:lnTo>
                    <a:pt x="153196" y="144631"/>
                  </a:lnTo>
                  <a:close/>
                  <a:moveTo>
                    <a:pt x="203678" y="287506"/>
                  </a:moveTo>
                  <a:lnTo>
                    <a:pt x="312859" y="396686"/>
                  </a:lnTo>
                  <a:lnTo>
                    <a:pt x="483862" y="225683"/>
                  </a:lnTo>
                  <a:cubicBezTo>
                    <a:pt x="530487" y="179373"/>
                    <a:pt x="554818" y="115169"/>
                    <a:pt x="550597" y="49590"/>
                  </a:cubicBezTo>
                  <a:cubicBezTo>
                    <a:pt x="485056" y="45521"/>
                    <a:pt x="420940" y="69894"/>
                    <a:pt x="374652" y="116473"/>
                  </a:cubicBezTo>
                  <a:close/>
                  <a:moveTo>
                    <a:pt x="455734" y="321171"/>
                  </a:moveTo>
                  <a:lnTo>
                    <a:pt x="338070" y="438835"/>
                  </a:lnTo>
                  <a:lnTo>
                    <a:pt x="353548" y="549444"/>
                  </a:lnTo>
                  <a:lnTo>
                    <a:pt x="455734" y="447169"/>
                  </a:ln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48027" y="16440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59906" y="2369344"/>
            <a:ext cx="60721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成熟的多智能体系统，不会简单追求模型越大越好</a:t>
            </a:r>
          </a:p>
        </p:txBody>
      </p:sp>
      <p:sp>
        <p:nvSpPr>
          <p:cNvPr id="10" name="Freeform 10"/>
          <p:cNvSpPr/>
          <p:nvPr/>
        </p:nvSpPr>
        <p:spPr>
          <a:xfrm>
            <a:off x="1809750" y="3200400"/>
            <a:ext cx="8572500" cy="552450"/>
          </a:xfrm>
          <a:custGeom>
            <a:avLst/>
            <a:gdLst/>
            <a:ahLst/>
            <a:cxnLst/>
            <a:rect l="l" t="t" r="r" b="b"/>
            <a:pathLst>
              <a:path w="8572500" h="552450">
                <a:moveTo>
                  <a:pt x="171450" y="0"/>
                </a:moveTo>
                <a:lnTo>
                  <a:pt x="8401050" y="0"/>
                </a:lnTo>
                <a:cubicBezTo>
                  <a:pt x="8495739" y="0"/>
                  <a:pt x="8572500" y="76761"/>
                  <a:pt x="8572500" y="171450"/>
                </a:cubicBezTo>
                <a:lnTo>
                  <a:pt x="8572500" y="381000"/>
                </a:lnTo>
                <a:cubicBezTo>
                  <a:pt x="8572500" y="475689"/>
                  <a:pt x="8495739" y="552450"/>
                  <a:pt x="8401050" y="552450"/>
                </a:cubicBezTo>
                <a:lnTo>
                  <a:pt x="171450" y="552450"/>
                </a:lnTo>
                <a:cubicBezTo>
                  <a:pt x="76761" y="552450"/>
                  <a:pt x="0" y="475689"/>
                  <a:pt x="0" y="381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22C1C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414367" y="3390900"/>
            <a:ext cx="53632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 中小型大模型是基础执行层，不是超大模型替代品</a:t>
            </a:r>
          </a:p>
        </p:txBody>
      </p:sp>
      <p:sp>
        <p:nvSpPr>
          <p:cNvPr id="12" name="Freeform 12"/>
          <p:cNvSpPr/>
          <p:nvPr/>
        </p:nvSpPr>
        <p:spPr>
          <a:xfrm>
            <a:off x="1809750" y="4000500"/>
            <a:ext cx="8572500" cy="552450"/>
          </a:xfrm>
          <a:custGeom>
            <a:avLst/>
            <a:gdLst/>
            <a:ahLst/>
            <a:cxnLst/>
            <a:rect l="l" t="t" r="r" b="b"/>
            <a:pathLst>
              <a:path w="8572500" h="552450">
                <a:moveTo>
                  <a:pt x="171450" y="0"/>
                </a:moveTo>
                <a:lnTo>
                  <a:pt x="8401050" y="0"/>
                </a:lnTo>
                <a:cubicBezTo>
                  <a:pt x="8495739" y="0"/>
                  <a:pt x="8572500" y="76761"/>
                  <a:pt x="8572500" y="171450"/>
                </a:cubicBezTo>
                <a:lnTo>
                  <a:pt x="8572500" y="381000"/>
                </a:lnTo>
                <a:cubicBezTo>
                  <a:pt x="8572500" y="475689"/>
                  <a:pt x="8495739" y="552450"/>
                  <a:pt x="8401050" y="552450"/>
                </a:cubicBezTo>
                <a:lnTo>
                  <a:pt x="171450" y="552450"/>
                </a:lnTo>
                <a:cubicBezTo>
                  <a:pt x="76761" y="552450"/>
                  <a:pt x="0" y="475689"/>
                  <a:pt x="0" y="381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22C1C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385614" y="4191000"/>
            <a:ext cx="54207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2. 最适合高频、明确、可编排、可治理的智能体节点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09750" y="4800600"/>
            <a:ext cx="8572500" cy="552450"/>
          </a:xfrm>
          <a:custGeom>
            <a:avLst/>
            <a:gdLst/>
            <a:ahLst/>
            <a:cxnLst/>
            <a:rect l="l" t="t" r="r" b="b"/>
            <a:pathLst>
              <a:path w="8572500" h="552450">
                <a:moveTo>
                  <a:pt x="171450" y="0"/>
                </a:moveTo>
                <a:lnTo>
                  <a:pt x="8401050" y="0"/>
                </a:lnTo>
                <a:cubicBezTo>
                  <a:pt x="8495739" y="0"/>
                  <a:pt x="8572500" y="76761"/>
                  <a:pt x="8572500" y="171450"/>
                </a:cubicBezTo>
                <a:lnTo>
                  <a:pt x="8572500" y="381000"/>
                </a:lnTo>
                <a:cubicBezTo>
                  <a:pt x="8572500" y="475689"/>
                  <a:pt x="8495739" y="552450"/>
                  <a:pt x="8401050" y="552450"/>
                </a:cubicBezTo>
                <a:lnTo>
                  <a:pt x="171450" y="552450"/>
                </a:lnTo>
                <a:cubicBezTo>
                  <a:pt x="76761" y="552450"/>
                  <a:pt x="0" y="475689"/>
                  <a:pt x="0" y="381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22C1C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70599" y="4991100"/>
            <a:ext cx="56508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3. 未来价值取决于模型、工具、知识、流程和安全协同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38800" y="59150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29652" y="63988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 / 10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